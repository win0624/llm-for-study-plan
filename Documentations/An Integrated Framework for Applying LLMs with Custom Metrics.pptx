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7" r:id="rId1"/>
  </p:sldMasterIdLst>
  <p:notesMasterIdLst>
    <p:notesMasterId r:id="rId25"/>
  </p:notesMasterIdLst>
  <p:handoutMasterIdLst>
    <p:handoutMasterId r:id="rId26"/>
  </p:handoutMasterIdLst>
  <p:sldIdLst>
    <p:sldId id="256" r:id="rId2"/>
    <p:sldId id="269" r:id="rId3"/>
    <p:sldId id="281" r:id="rId4"/>
    <p:sldId id="258" r:id="rId5"/>
    <p:sldId id="259" r:id="rId6"/>
    <p:sldId id="287" r:id="rId7"/>
    <p:sldId id="282" r:id="rId8"/>
    <p:sldId id="262" r:id="rId9"/>
    <p:sldId id="289" r:id="rId10"/>
    <p:sldId id="278" r:id="rId11"/>
    <p:sldId id="264" r:id="rId12"/>
    <p:sldId id="285" r:id="rId13"/>
    <p:sldId id="293" r:id="rId14"/>
    <p:sldId id="295" r:id="rId15"/>
    <p:sldId id="296" r:id="rId16"/>
    <p:sldId id="297" r:id="rId17"/>
    <p:sldId id="291" r:id="rId18"/>
    <p:sldId id="292" r:id="rId19"/>
    <p:sldId id="299" r:id="rId20"/>
    <p:sldId id="298" r:id="rId21"/>
    <p:sldId id="286" r:id="rId22"/>
    <p:sldId id="288" r:id="rId23"/>
    <p:sldId id="283" r:id="rId24"/>
  </p:sldIdLst>
  <p:sldSz cx="9144000" cy="5143500" type="screen16x9"/>
  <p:notesSz cx="6858000" cy="9144000"/>
  <p:embeddedFontLst>
    <p:embeddedFont>
      <p:font typeface="Montserrat" pitchFamily="2" charset="77"/>
      <p:regular r:id="rId27"/>
      <p:bold r:id="rId28"/>
      <p:italic r:id="rId29"/>
      <p:boldItalic r:id="rId30"/>
    </p:embeddedFont>
    <p:embeddedFont>
      <p:font typeface="Montserrat Black" pitchFamily="2" charset="77"/>
      <p:bold r:id="rId31"/>
      <p:italic r:id="rId32"/>
      <p:boldItalic r:id="rId33"/>
    </p:embeddedFont>
    <p:embeddedFont>
      <p:font typeface="Montserrat ExtraBold" panose="020F0502020204030204" pitchFamily="34" charset="0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C3EF"/>
    <a:srgbClr val="615293"/>
    <a:srgbClr val="5E4F8D"/>
    <a:srgbClr val="605191"/>
    <a:srgbClr val="67579B"/>
    <a:srgbClr val="6A599F"/>
    <a:srgbClr val="605192"/>
    <a:srgbClr val="6854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818"/>
    <p:restoredTop sz="94655"/>
  </p:normalViewPr>
  <p:slideViewPr>
    <p:cSldViewPr snapToGrid="0">
      <p:cViewPr varScale="1">
        <p:scale>
          <a:sx n="156" d="100"/>
          <a:sy n="156" d="100"/>
        </p:scale>
        <p:origin x="600" y="1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7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3E46A0-3444-8331-A8E9-3ED4D002D1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97133B-BDC0-6794-8370-5FB6B43E268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39969A-5406-1940-AFB1-206D06E703B3}" type="datetimeFigureOut">
              <a:rPr lang="en-CN" smtClean="0"/>
              <a:t>2024/12/17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70C727-79E9-5700-0370-26B07F5C58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DF79DC-6DEB-A12F-8A4C-9B2902D79E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9FA90F-CEE0-384A-A3E8-A7B1739FFF5D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8266170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ca4b07d14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ca4b07d14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0674348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80674348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BBDD5F41-508D-DD8E-26C2-22F0E7494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0aeea1a29_1_45:notes">
            <a:extLst>
              <a:ext uri="{FF2B5EF4-FFF2-40B4-BE49-F238E27FC236}">
                <a16:creationId xmlns:a16="http://schemas.microsoft.com/office/drawing/2014/main" id="{65D14A24-7BA4-D04D-BB39-4BB88A5744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0aeea1a29_1_45:notes">
            <a:extLst>
              <a:ext uri="{FF2B5EF4-FFF2-40B4-BE49-F238E27FC236}">
                <a16:creationId xmlns:a16="http://schemas.microsoft.com/office/drawing/2014/main" id="{07DF6908-939E-0052-3227-9BD15D2647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6474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06743487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806743487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06743487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06743487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>
          <a:extLst>
            <a:ext uri="{FF2B5EF4-FFF2-40B4-BE49-F238E27FC236}">
              <a16:creationId xmlns:a16="http://schemas.microsoft.com/office/drawing/2014/main" id="{B092681F-BA6E-C778-2207-3B8FE3796E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06743487f_0_51:notes">
            <a:extLst>
              <a:ext uri="{FF2B5EF4-FFF2-40B4-BE49-F238E27FC236}">
                <a16:creationId xmlns:a16="http://schemas.microsoft.com/office/drawing/2014/main" id="{699A4F74-12B3-82B7-093E-AD51195051E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06743487f_0_51:notes">
            <a:extLst>
              <a:ext uri="{FF2B5EF4-FFF2-40B4-BE49-F238E27FC236}">
                <a16:creationId xmlns:a16="http://schemas.microsoft.com/office/drawing/2014/main" id="{0B627140-49D4-A866-2308-A4C63813AD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31970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ABF4DF88-9BF6-1799-104C-473C52333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0aeea1a29_1_45:notes">
            <a:extLst>
              <a:ext uri="{FF2B5EF4-FFF2-40B4-BE49-F238E27FC236}">
                <a16:creationId xmlns:a16="http://schemas.microsoft.com/office/drawing/2014/main" id="{7AC22A17-24C9-0984-257F-55440FB6CE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0aeea1a29_1_45:notes">
            <a:extLst>
              <a:ext uri="{FF2B5EF4-FFF2-40B4-BE49-F238E27FC236}">
                <a16:creationId xmlns:a16="http://schemas.microsoft.com/office/drawing/2014/main" id="{756117B3-E9E8-4E0B-8DE0-876B6BAFD2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4447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06743487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806743487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>
          <a:extLst>
            <a:ext uri="{FF2B5EF4-FFF2-40B4-BE49-F238E27FC236}">
              <a16:creationId xmlns:a16="http://schemas.microsoft.com/office/drawing/2014/main" id="{B796FF2D-CE53-C557-DAF6-BBDB5A56C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06743487f_0_57:notes">
            <a:extLst>
              <a:ext uri="{FF2B5EF4-FFF2-40B4-BE49-F238E27FC236}">
                <a16:creationId xmlns:a16="http://schemas.microsoft.com/office/drawing/2014/main" id="{249D7CEA-697D-8F0B-CC35-D638CA8E9F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806743487f_0_57:notes">
            <a:extLst>
              <a:ext uri="{FF2B5EF4-FFF2-40B4-BE49-F238E27FC236}">
                <a16:creationId xmlns:a16="http://schemas.microsoft.com/office/drawing/2014/main" id="{74D2A4B3-DA12-117D-D7EA-98ED1AE407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44469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0aeea1a29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0aeea1a29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80aeea1a29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80aeea1a29_1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682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6743487f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6743487f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78EE5416-A2F7-5544-CF5F-BE36EE76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6743487f_0_7:notes">
            <a:extLst>
              <a:ext uri="{FF2B5EF4-FFF2-40B4-BE49-F238E27FC236}">
                <a16:creationId xmlns:a16="http://schemas.microsoft.com/office/drawing/2014/main" id="{94FB01A0-9188-5EA2-32B6-BE6E73924E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6743487f_0_7:notes">
            <a:extLst>
              <a:ext uri="{FF2B5EF4-FFF2-40B4-BE49-F238E27FC236}">
                <a16:creationId xmlns:a16="http://schemas.microsoft.com/office/drawing/2014/main" id="{3F913686-8D6F-444C-FE2B-813831848F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96470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585D9114-B722-3E17-C8A7-3240D39CA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6743487f_0_7:notes">
            <a:extLst>
              <a:ext uri="{FF2B5EF4-FFF2-40B4-BE49-F238E27FC236}">
                <a16:creationId xmlns:a16="http://schemas.microsoft.com/office/drawing/2014/main" id="{7CB9194F-FCF4-E3F8-FEEE-1596C50473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6743487f_0_7:notes">
            <a:extLst>
              <a:ext uri="{FF2B5EF4-FFF2-40B4-BE49-F238E27FC236}">
                <a16:creationId xmlns:a16="http://schemas.microsoft.com/office/drawing/2014/main" id="{3813424A-7C2C-D21B-01E5-0EA99A007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18774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A8AC9F73-CC42-EB41-F9B8-4283365AF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6743487f_0_7:notes">
            <a:extLst>
              <a:ext uri="{FF2B5EF4-FFF2-40B4-BE49-F238E27FC236}">
                <a16:creationId xmlns:a16="http://schemas.microsoft.com/office/drawing/2014/main" id="{BB4D4C3F-67B3-FBAF-AE03-052C8DC94F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6743487f_0_7:notes">
            <a:extLst>
              <a:ext uri="{FF2B5EF4-FFF2-40B4-BE49-F238E27FC236}">
                <a16:creationId xmlns:a16="http://schemas.microsoft.com/office/drawing/2014/main" id="{16AEB45D-046D-19A5-90F3-5F13A592D6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5260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B2950674-6E8B-A16A-FE15-CB3487B7F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6743487f_0_7:notes">
            <a:extLst>
              <a:ext uri="{FF2B5EF4-FFF2-40B4-BE49-F238E27FC236}">
                <a16:creationId xmlns:a16="http://schemas.microsoft.com/office/drawing/2014/main" id="{B5A9CA58-A509-8B56-B13C-6D307E19E2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6743487f_0_7:notes">
            <a:extLst>
              <a:ext uri="{FF2B5EF4-FFF2-40B4-BE49-F238E27FC236}">
                <a16:creationId xmlns:a16="http://schemas.microsoft.com/office/drawing/2014/main" id="{66EF6E6F-E853-A33D-35F5-8F6E048B1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933453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8F158A9B-E9B0-0764-9E7C-824F457FD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6743487f_0_7:notes">
            <a:extLst>
              <a:ext uri="{FF2B5EF4-FFF2-40B4-BE49-F238E27FC236}">
                <a16:creationId xmlns:a16="http://schemas.microsoft.com/office/drawing/2014/main" id="{418782D9-2CB9-9214-DA6D-B095A785F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6743487f_0_7:notes">
            <a:extLst>
              <a:ext uri="{FF2B5EF4-FFF2-40B4-BE49-F238E27FC236}">
                <a16:creationId xmlns:a16="http://schemas.microsoft.com/office/drawing/2014/main" id="{AD9C53BA-CF4C-D508-4821-64EE3A235E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7946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7275030C-C3C5-E4D2-68B7-D4BDAA46D0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6743487f_0_7:notes">
            <a:extLst>
              <a:ext uri="{FF2B5EF4-FFF2-40B4-BE49-F238E27FC236}">
                <a16:creationId xmlns:a16="http://schemas.microsoft.com/office/drawing/2014/main" id="{180FBF3B-9C34-7E9E-7FB5-83B6F47FD5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6743487f_0_7:notes">
            <a:extLst>
              <a:ext uri="{FF2B5EF4-FFF2-40B4-BE49-F238E27FC236}">
                <a16:creationId xmlns:a16="http://schemas.microsoft.com/office/drawing/2014/main" id="{82545558-BEB7-CE80-35DB-7135E977A3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1068215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7F522BF1-6807-1849-92C5-709B797E6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6743487f_0_7:notes">
            <a:extLst>
              <a:ext uri="{FF2B5EF4-FFF2-40B4-BE49-F238E27FC236}">
                <a16:creationId xmlns:a16="http://schemas.microsoft.com/office/drawing/2014/main" id="{F5E78012-E565-83F3-AFF6-C668D2040B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6743487f_0_7:notes">
            <a:extLst>
              <a:ext uri="{FF2B5EF4-FFF2-40B4-BE49-F238E27FC236}">
                <a16:creationId xmlns:a16="http://schemas.microsoft.com/office/drawing/2014/main" id="{7F70D308-8FBD-24E4-0981-2ACC618B57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946969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B7DCC4BD-D13F-D952-AC69-D02740E53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6743487f_0_7:notes">
            <a:extLst>
              <a:ext uri="{FF2B5EF4-FFF2-40B4-BE49-F238E27FC236}">
                <a16:creationId xmlns:a16="http://schemas.microsoft.com/office/drawing/2014/main" id="{6C8DFB8B-1272-E853-C8F4-8E3466AE43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6743487f_0_7:notes">
            <a:extLst>
              <a:ext uri="{FF2B5EF4-FFF2-40B4-BE49-F238E27FC236}">
                <a16:creationId xmlns:a16="http://schemas.microsoft.com/office/drawing/2014/main" id="{C88925F1-17CA-B5EA-B4D9-1E44691952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6148982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DF0A09FC-AD8B-9DD3-CC0A-75B5F4418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0aeea1a29_1_45:notes">
            <a:extLst>
              <a:ext uri="{FF2B5EF4-FFF2-40B4-BE49-F238E27FC236}">
                <a16:creationId xmlns:a16="http://schemas.microsoft.com/office/drawing/2014/main" id="{E7A33B9B-FAC7-A6D9-A500-CF054E8FF8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0aeea1a29_1_45:notes">
            <a:extLst>
              <a:ext uri="{FF2B5EF4-FFF2-40B4-BE49-F238E27FC236}">
                <a16:creationId xmlns:a16="http://schemas.microsoft.com/office/drawing/2014/main" id="{13B8D6D0-78FA-4B45-6E67-2080CA1EF0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61990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id="{39916357-BC17-615C-69A1-39DB15B3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806743487f_0_7:notes">
            <a:extLst>
              <a:ext uri="{FF2B5EF4-FFF2-40B4-BE49-F238E27FC236}">
                <a16:creationId xmlns:a16="http://schemas.microsoft.com/office/drawing/2014/main" id="{1C61B469-9A13-C7A2-5757-D6774DAC52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806743487f_0_7:notes">
            <a:extLst>
              <a:ext uri="{FF2B5EF4-FFF2-40B4-BE49-F238E27FC236}">
                <a16:creationId xmlns:a16="http://schemas.microsoft.com/office/drawing/2014/main" id="{5C510D69-1CC5-7F99-3594-4AAFEA40D4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909613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A54B8ED0-484C-D959-93B6-9E6637B13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0aeea1a29_1_45:notes">
            <a:extLst>
              <a:ext uri="{FF2B5EF4-FFF2-40B4-BE49-F238E27FC236}">
                <a16:creationId xmlns:a16="http://schemas.microsoft.com/office/drawing/2014/main" id="{44EAEE6E-1EAE-8CA1-3A73-0C3A269972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0aeea1a29_1_45:notes">
            <a:extLst>
              <a:ext uri="{FF2B5EF4-FFF2-40B4-BE49-F238E27FC236}">
                <a16:creationId xmlns:a16="http://schemas.microsoft.com/office/drawing/2014/main" id="{A84EDCEC-376D-97C2-C942-988328ACA1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415249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1" type="title">
  <p:cSld name="TITLE">
    <p:bg>
      <p:bgPr>
        <a:solidFill>
          <a:srgbClr val="57068C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1" name="Google Shape;11;p2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2">
  <p:cSld name="TITLE_1">
    <p:bg>
      <p:bgPr>
        <a:solidFill>
          <a:srgbClr val="57068C"/>
        </a:solid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17" name="Google Shape;17;p3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4">
  <p:cSld name="TITLE_1_1_1">
    <p:bg>
      <p:bgPr>
        <a:solidFill>
          <a:srgbClr val="57068C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3" name="Google Shape;23;p4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05">
  <p:cSld name="TITLE_1_1_1_1">
    <p:bg>
      <p:bgPr>
        <a:solidFill>
          <a:srgbClr val="57068C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600">
                <a:solidFill>
                  <a:schemeClr val="lt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pic>
        <p:nvPicPr>
          <p:cNvPr id="29" name="Google Shape;29;p5" descr="New York University logo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07600" y="3119750"/>
            <a:ext cx="4761000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rgbClr val="FFFFFF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2"/>
          </p:nvPr>
        </p:nvSpPr>
        <p:spPr>
          <a:xfrm>
            <a:off x="307600" y="4145050"/>
            <a:ext cx="24360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lvl="1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1152475"/>
            <a:ext cx="3345900" cy="319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4114800" y="1175683"/>
            <a:ext cx="4192800" cy="31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" name="Google Shape;41;p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42" name="Google Shape;42;p7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43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592">
          <p15:clr>
            <a:srgbClr val="FA7B17"/>
          </p15:clr>
        </p15:guide>
        <p15:guide id="2" pos="2304">
          <p15:clr>
            <a:srgbClr val="FA7B17"/>
          </p15:clr>
        </p15:guide>
        <p15:guide id="3" orient="horz" pos="720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46" name="Google Shape;46;p8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1376250" y="1828800"/>
            <a:ext cx="33303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5051175" y="1828800"/>
            <a:ext cx="3330300" cy="24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9" name="Google Shape;49;p8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0" name="Google Shape;50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52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4200"/>
              <a:buFont typeface="Montserrat Black"/>
              <a:buNone/>
              <a:defRPr sz="4200"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pic>
        <p:nvPicPr>
          <p:cNvPr id="53" name="Google Shape;53;p9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9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5" name="Google Shape;55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Montserrat Black"/>
              <a:buNone/>
              <a:defRPr sz="3600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955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72" name="Google Shape;72;p12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2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bg>
      <p:bgPr>
        <a:solidFill>
          <a:schemeClr val="dk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5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5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">
  <p:cSld name="CUSTOM_1_1">
    <p:bg>
      <p:bgPr>
        <a:solidFill>
          <a:schemeClr val="dk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96" name="Google Shape;96;p16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97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1 1">
  <p:cSld name="CUSTOM_1_1_1">
    <p:bg>
      <p:bgPr>
        <a:solidFill>
          <a:schemeClr val="dk1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0"/>
            <a:ext cx="9144000" cy="51434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>
            <a:spLocks noGrp="1"/>
          </p:cNvSpPr>
          <p:nvPr>
            <p:ph type="title"/>
          </p:nvPr>
        </p:nvSpPr>
        <p:spPr>
          <a:xfrm>
            <a:off x="1101125" y="936450"/>
            <a:ext cx="6947400" cy="30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4313700" y="391050"/>
            <a:ext cx="522300" cy="7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>
                <a:solidFill>
                  <a:schemeClr val="accent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“</a:t>
            </a:r>
            <a:endParaRPr sz="4200">
              <a:solidFill>
                <a:schemeClr val="accent3"/>
              </a:solidFill>
              <a:latin typeface="Montserrat Black"/>
              <a:ea typeface="Montserrat Black"/>
              <a:cs typeface="Montserrat Black"/>
              <a:sym typeface="Montserrat Black"/>
            </a:endParaRPr>
          </a:p>
        </p:txBody>
      </p:sp>
      <p:cxnSp>
        <p:nvCxnSpPr>
          <p:cNvPr id="103" name="Google Shape;103;p17"/>
          <p:cNvCxnSpPr/>
          <p:nvPr/>
        </p:nvCxnSpPr>
        <p:spPr>
          <a:xfrm>
            <a:off x="4314143" y="4230331"/>
            <a:ext cx="5214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-page image">
  <p:cSld name="Half-page imag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3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38031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lvl="2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lvl="3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lvl="4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lvl="5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lvl="6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lvl="7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lvl="8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800"/>
              <a:buFont typeface="Montserrat Black"/>
              <a:buNone/>
              <a:defRPr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body" idx="1"/>
          </p:nvPr>
        </p:nvSpPr>
        <p:spPr>
          <a:xfrm>
            <a:off x="311700" y="2750150"/>
            <a:ext cx="3466500" cy="1522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78" name="Google Shape;78;p13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rgbClr val="57068C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rgbClr val="5706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18029" cy="3072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1400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ExtraBold"/>
              <a:buNone/>
              <a:defRPr sz="420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8" r:id="rId8"/>
    <p:sldLayoutId id="2147483661" r:id="rId9"/>
    <p:sldLayoutId id="2147483662" r:id="rId10"/>
    <p:sldLayoutId id="2147483663" r:id="rId11"/>
    <p:sldLayoutId id="2147483666" r:id="rId12"/>
    <p:sldLayoutId id="214748367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6949" y="1243943"/>
            <a:ext cx="8265600" cy="190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dirty="0"/>
              <a:t>﻿An</a:t>
            </a:r>
            <a:r>
              <a:rPr lang="zh-CN" altLang="en-US" sz="3600" dirty="0"/>
              <a:t> </a:t>
            </a:r>
            <a:r>
              <a:rPr lang="en-US" altLang="zh-CN" sz="3600" dirty="0"/>
              <a:t>Integrated</a:t>
            </a:r>
            <a:r>
              <a:rPr lang="zh-CN" altLang="en-US" sz="3600" dirty="0"/>
              <a:t> </a:t>
            </a:r>
            <a:r>
              <a:rPr lang="en-US" altLang="zh-CN" sz="3600" dirty="0"/>
              <a:t>Framework</a:t>
            </a:r>
            <a:r>
              <a:rPr lang="zh-CN" altLang="en-US" sz="3600" dirty="0"/>
              <a:t> </a:t>
            </a:r>
            <a:r>
              <a:rPr lang="en-US" altLang="zh-CN" sz="3600" dirty="0"/>
              <a:t>for</a:t>
            </a:r>
            <a:r>
              <a:rPr lang="zh-CN" altLang="en-US" sz="3600" dirty="0"/>
              <a:t> </a:t>
            </a:r>
            <a:r>
              <a:rPr lang="en-US" altLang="zh-CN" sz="3600" dirty="0"/>
              <a:t>Applying</a:t>
            </a:r>
            <a:r>
              <a:rPr lang="zh-CN" altLang="en-US" sz="3600" dirty="0"/>
              <a:t> </a:t>
            </a:r>
            <a:r>
              <a:rPr lang="en-US" altLang="zh-CN" sz="3600" dirty="0"/>
              <a:t>LLMs</a:t>
            </a:r>
            <a:r>
              <a:rPr lang="zh-CN" altLang="en-US" sz="3600" dirty="0"/>
              <a:t> </a:t>
            </a:r>
            <a:r>
              <a:rPr lang="en-US" altLang="zh-CN" sz="3600" dirty="0"/>
              <a:t>with</a:t>
            </a:r>
            <a:r>
              <a:rPr lang="zh-CN" altLang="en-US" sz="3600" dirty="0"/>
              <a:t> </a:t>
            </a:r>
            <a:r>
              <a:rPr lang="en-US" altLang="zh-CN" sz="3600" dirty="0"/>
              <a:t>Custom</a:t>
            </a:r>
            <a:r>
              <a:rPr lang="zh-CN" altLang="en-US" sz="3600" dirty="0"/>
              <a:t> </a:t>
            </a:r>
            <a:r>
              <a:rPr lang="en-US" altLang="zh-CN" sz="3600" dirty="0"/>
              <a:t>Metrics</a:t>
            </a:r>
            <a:endParaRPr sz="3600" dirty="0"/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2"/>
          </p:nvPr>
        </p:nvSpPr>
        <p:spPr>
          <a:xfrm>
            <a:off x="307599" y="4023250"/>
            <a:ext cx="3954157" cy="7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PRESENTED BY Christopher Winter &amp; Ying Zeng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12/17/2024</a:t>
            </a:r>
          </a:p>
        </p:txBody>
      </p:sp>
      <p:sp>
        <p:nvSpPr>
          <p:cNvPr id="2" name="Google Shape;121;p21">
            <a:extLst>
              <a:ext uri="{FF2B5EF4-FFF2-40B4-BE49-F238E27FC236}">
                <a16:creationId xmlns:a16="http://schemas.microsoft.com/office/drawing/2014/main" id="{4773B17B-EA3E-23FD-4241-0D815D8B939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07599" y="3119750"/>
            <a:ext cx="6142897" cy="5776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altLang="zh-CN" sz="1600" dirty="0">
                <a:latin typeface="+mj-lt"/>
                <a:cs typeface="Al Bayan Plain" pitchFamily="2" charset="-78"/>
              </a:rPr>
              <a:t>——</a:t>
            </a:r>
            <a:r>
              <a:rPr lang="zh-CN" altLang="en-US" sz="1600" dirty="0">
                <a:latin typeface="+mj-lt"/>
                <a:cs typeface="Al Bayan Plain" pitchFamily="2" charset="-78"/>
              </a:rPr>
              <a:t> </a:t>
            </a:r>
            <a:r>
              <a:rPr lang="en-US" altLang="zh-CN" sz="1600" dirty="0">
                <a:latin typeface="+mj-lt"/>
                <a:cs typeface="Al Bayan Plain" pitchFamily="2" charset="-78"/>
              </a:rPr>
              <a:t>a</a:t>
            </a:r>
            <a:r>
              <a:rPr lang="zh-CN" altLang="en-US" sz="1600" dirty="0">
                <a:latin typeface="+mj-lt"/>
                <a:cs typeface="Al Bayan Plain" pitchFamily="2" charset="-78"/>
              </a:rPr>
              <a:t> </a:t>
            </a:r>
            <a:r>
              <a:rPr lang="en-US" altLang="zh-CN" sz="1600" dirty="0">
                <a:latin typeface="+mj-lt"/>
                <a:cs typeface="Al Bayan Plain" pitchFamily="2" charset="-78"/>
              </a:rPr>
              <a:t>Use</a:t>
            </a:r>
            <a:r>
              <a:rPr lang="zh-CN" altLang="en-US" sz="1600" dirty="0">
                <a:latin typeface="+mj-lt"/>
                <a:cs typeface="Al Bayan Plain" pitchFamily="2" charset="-78"/>
              </a:rPr>
              <a:t> </a:t>
            </a:r>
            <a:r>
              <a:rPr lang="en-US" altLang="zh-CN" sz="1600" dirty="0">
                <a:latin typeface="+mj-lt"/>
                <a:cs typeface="Al Bayan Plain" pitchFamily="2" charset="-78"/>
              </a:rPr>
              <a:t>Case</a:t>
            </a:r>
            <a:r>
              <a:rPr lang="zh-CN" altLang="en-US" sz="1600" dirty="0">
                <a:latin typeface="+mj-lt"/>
                <a:cs typeface="Al Bayan Plain" pitchFamily="2" charset="-78"/>
              </a:rPr>
              <a:t> </a:t>
            </a:r>
            <a:r>
              <a:rPr lang="en-US" altLang="zh-CN" sz="1600" dirty="0">
                <a:latin typeface="+mj-lt"/>
                <a:cs typeface="Al Bayan Plain" pitchFamily="2" charset="-78"/>
              </a:rPr>
              <a:t>in</a:t>
            </a:r>
            <a:r>
              <a:rPr lang="zh-CN" altLang="en-US" sz="1600" dirty="0">
                <a:latin typeface="+mj-lt"/>
                <a:cs typeface="Al Bayan Plain" pitchFamily="2" charset="-78"/>
              </a:rPr>
              <a:t> </a:t>
            </a:r>
            <a:r>
              <a:rPr lang="en-US" altLang="zh-CN" sz="1600" dirty="0">
                <a:latin typeface="+mj-lt"/>
                <a:cs typeface="Al Bayan Plain" pitchFamily="2" charset="-78"/>
              </a:rPr>
              <a:t>Personalized</a:t>
            </a:r>
            <a:r>
              <a:rPr lang="zh-CN" altLang="en-US" sz="1600" dirty="0">
                <a:latin typeface="+mj-lt"/>
                <a:cs typeface="Al Bayan Plain" pitchFamily="2" charset="-78"/>
              </a:rPr>
              <a:t> </a:t>
            </a:r>
            <a:r>
              <a:rPr lang="en-US" altLang="zh-CN" sz="1600" dirty="0">
                <a:latin typeface="+mj-lt"/>
                <a:cs typeface="Al Bayan Plain" pitchFamily="2" charset="-78"/>
              </a:rPr>
              <a:t>Study</a:t>
            </a:r>
            <a:r>
              <a:rPr lang="zh-CN" altLang="en-US" sz="1600" dirty="0">
                <a:latin typeface="+mj-lt"/>
                <a:cs typeface="Al Bayan Plain" pitchFamily="2" charset="-78"/>
              </a:rPr>
              <a:t> </a:t>
            </a:r>
            <a:r>
              <a:rPr lang="en-US" altLang="zh-CN" sz="1600" dirty="0">
                <a:latin typeface="+mj-lt"/>
                <a:cs typeface="Al Bayan Plain" pitchFamily="2" charset="-78"/>
              </a:rPr>
              <a:t>Plan</a:t>
            </a:r>
            <a:r>
              <a:rPr lang="zh-CN" altLang="en-US" sz="1600" dirty="0">
                <a:latin typeface="+mj-lt"/>
                <a:cs typeface="Al Bayan Plain" pitchFamily="2" charset="-78"/>
              </a:rPr>
              <a:t> </a:t>
            </a:r>
            <a:r>
              <a:rPr lang="en-US" altLang="zh-CN" sz="1600" dirty="0">
                <a:latin typeface="+mj-lt"/>
                <a:cs typeface="Al Bayan Plain" pitchFamily="2" charset="-78"/>
              </a:rPr>
              <a:t>Generation</a:t>
            </a:r>
            <a:endParaRPr dirty="0">
              <a:latin typeface="+mj-lt"/>
              <a:cs typeface="Al Bayan Plain" pitchFamily="2" charset="-78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>
          <a:xfrm>
            <a:off x="261258" y="465364"/>
            <a:ext cx="7887514" cy="47071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</a:t>
            </a:r>
            <a:endParaRPr dirty="0"/>
          </a:p>
        </p:txBody>
      </p:sp>
      <p:sp>
        <p:nvSpPr>
          <p:cNvPr id="162" name="Google Shape;162;p27"/>
          <p:cNvSpPr txBox="1"/>
          <p:nvPr/>
        </p:nvSpPr>
        <p:spPr>
          <a:xfrm>
            <a:off x="3307694" y="1587099"/>
            <a:ext cx="2380328" cy="389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dirty="0">
                <a:solidFill>
                  <a:srgbClr val="57068C"/>
                </a:solidFill>
                <a:latin typeface="Montserrat ExtraBold"/>
                <a:cs typeface="Montserrat ExtraBold"/>
              </a:rPr>
              <a:t>I</a:t>
            </a:r>
            <a:r>
              <a:rPr lang="zh-CN" altLang="en-US" sz="1200" dirty="0">
                <a:solidFill>
                  <a:srgbClr val="57068C"/>
                </a:solidFill>
                <a:latin typeface="Montserrat ExtraBold"/>
                <a:cs typeface="Montserrat ExtraBold"/>
                <a:sym typeface="Montserrat ExtraBold"/>
              </a:rPr>
              <a:t> </a:t>
            </a:r>
            <a:r>
              <a:rPr lang="en" sz="12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Problem Statement</a:t>
            </a:r>
            <a:endParaRPr sz="1200" dirty="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63" name="Google Shape;163;p27"/>
          <p:cNvSpPr txBox="1"/>
          <p:nvPr/>
        </p:nvSpPr>
        <p:spPr>
          <a:xfrm>
            <a:off x="3349158" y="1955894"/>
            <a:ext cx="2297400" cy="35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7068C"/>
                </a:solidFill>
                <a:latin typeface="Montserrat ExtraBold"/>
                <a:cs typeface="Montserrat ExtraBold"/>
              </a:rPr>
              <a:t>II</a:t>
            </a:r>
            <a:r>
              <a:rPr lang="zh-CN" altLang="en-US" sz="1600" dirty="0"/>
              <a:t> </a:t>
            </a:r>
            <a:r>
              <a:rPr lang="en-US" sz="12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Major Contribution</a:t>
            </a:r>
          </a:p>
          <a:p>
            <a:pPr marL="0" lvl="0" indent="0" algn="ctr" rtl="0">
              <a:lnSpc>
                <a:spcPct val="125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lang="en-US" sz="10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2639508" y="2358079"/>
            <a:ext cx="3105664" cy="389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7068C"/>
                </a:solidFill>
                <a:latin typeface="Montserrat ExtraBold"/>
                <a:cs typeface="Montserrat ExtraBold"/>
              </a:rPr>
              <a:t>III</a:t>
            </a:r>
            <a:r>
              <a:rPr lang="zh-CN" altLang="en-US" sz="1600" dirty="0"/>
              <a:t> </a:t>
            </a:r>
            <a:r>
              <a:rPr lang="en-US" sz="12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Evaluation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61EC44-748E-4D7F-2920-0D741E11B92B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2" name="Google Shape;164;p27">
            <a:extLst>
              <a:ext uri="{FF2B5EF4-FFF2-40B4-BE49-F238E27FC236}">
                <a16:creationId xmlns:a16="http://schemas.microsoft.com/office/drawing/2014/main" id="{3D6A423D-6A94-DFFE-A27C-ED5492A781E0}"/>
              </a:ext>
            </a:extLst>
          </p:cNvPr>
          <p:cNvSpPr txBox="1"/>
          <p:nvPr/>
        </p:nvSpPr>
        <p:spPr>
          <a:xfrm>
            <a:off x="3516323" y="2858238"/>
            <a:ext cx="2824200" cy="357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57068C"/>
                </a:solidFill>
                <a:latin typeface="Montserrat ExtraBold"/>
                <a:cs typeface="Montserrat ExtraBold"/>
              </a:rPr>
              <a:t>IV</a:t>
            </a:r>
            <a:r>
              <a:rPr lang="zh-CN" altLang="en-US" sz="1200" dirty="0">
                <a:solidFill>
                  <a:srgbClr val="57068C"/>
                </a:solidFill>
                <a:latin typeface="Montserrat ExtraBold"/>
                <a:cs typeface="Montserrat ExtraBold"/>
              </a:rPr>
              <a:t> </a:t>
            </a:r>
            <a:r>
              <a:rPr lang="en-US" sz="1200" dirty="0">
                <a:solidFill>
                  <a:srgbClr val="57068C"/>
                </a:solidFill>
                <a:latin typeface="Montserrat ExtraBold"/>
                <a:cs typeface="Montserrat ExtraBold"/>
              </a:rPr>
              <a:t>Limitations and Perspectives</a:t>
            </a:r>
            <a:endParaRPr lang="en-US" sz="1200" dirty="0">
              <a:solidFill>
                <a:srgbClr val="57068C"/>
              </a:solidFill>
              <a:latin typeface="Montserrat ExtraBold"/>
              <a:cs typeface="Montserrat ExtraBold"/>
              <a:sym typeface="Montserrat ExtraBold"/>
            </a:endParaRPr>
          </a:p>
        </p:txBody>
      </p:sp>
      <p:sp>
        <p:nvSpPr>
          <p:cNvPr id="7" name="矩形 88">
            <a:extLst>
              <a:ext uri="{FF2B5EF4-FFF2-40B4-BE49-F238E27FC236}">
                <a16:creationId xmlns:a16="http://schemas.microsoft.com/office/drawing/2014/main" id="{2A82D52F-C79A-673E-0C81-F3BD540512FB}"/>
              </a:ext>
            </a:extLst>
          </p:cNvPr>
          <p:cNvSpPr/>
          <p:nvPr/>
        </p:nvSpPr>
        <p:spPr>
          <a:xfrm>
            <a:off x="2569265" y="1943897"/>
            <a:ext cx="250837" cy="1297363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矩形 102">
            <a:extLst>
              <a:ext uri="{FF2B5EF4-FFF2-40B4-BE49-F238E27FC236}">
                <a16:creationId xmlns:a16="http://schemas.microsoft.com/office/drawing/2014/main" id="{DFC8C7B1-D930-0373-778A-EF9F4F8C2ACF}"/>
              </a:ext>
            </a:extLst>
          </p:cNvPr>
          <p:cNvSpPr/>
          <p:nvPr/>
        </p:nvSpPr>
        <p:spPr>
          <a:xfrm>
            <a:off x="2569265" y="1709397"/>
            <a:ext cx="619393" cy="1297363"/>
          </a:xfrm>
          <a:prstGeom prst="rect">
            <a:avLst/>
          </a:prstGeom>
          <a:solidFill>
            <a:srgbClr val="61529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solidFill>
                <a:srgbClr val="7030A0"/>
              </a:solidFill>
              <a:highlight>
                <a:srgbClr val="5E4F8D"/>
              </a:highlight>
            </a:endParaRPr>
          </a:p>
        </p:txBody>
      </p:sp>
      <p:sp>
        <p:nvSpPr>
          <p:cNvPr id="9" name="直角三角形 82">
            <a:extLst>
              <a:ext uri="{FF2B5EF4-FFF2-40B4-BE49-F238E27FC236}">
                <a16:creationId xmlns:a16="http://schemas.microsoft.com/office/drawing/2014/main" id="{7AFECCC8-40C9-E313-8FE6-702E0FD52E3E}"/>
              </a:ext>
            </a:extLst>
          </p:cNvPr>
          <p:cNvSpPr/>
          <p:nvPr/>
        </p:nvSpPr>
        <p:spPr>
          <a:xfrm rot="16200000" flipH="1">
            <a:off x="2569450" y="2990773"/>
            <a:ext cx="241944" cy="259028"/>
          </a:xfrm>
          <a:prstGeom prst="rtTriangl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DC2941B5-CD86-D16F-C06F-82944C92F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4">
            <a:extLst>
              <a:ext uri="{FF2B5EF4-FFF2-40B4-BE49-F238E27FC236}">
                <a16:creationId xmlns:a16="http://schemas.microsoft.com/office/drawing/2014/main" id="{D9E8D693-9835-C185-9E52-B0344B178F70}"/>
              </a:ext>
            </a:extLst>
          </p:cNvPr>
          <p:cNvSpPr/>
          <p:nvPr/>
        </p:nvSpPr>
        <p:spPr>
          <a:xfrm>
            <a:off x="4195513" y="1865562"/>
            <a:ext cx="752973" cy="672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1</a:t>
            </a:r>
            <a:endParaRPr lang="zh-CN" altLang="en-US" sz="2400" b="1" dirty="0"/>
          </a:p>
        </p:txBody>
      </p:sp>
      <p:cxnSp>
        <p:nvCxnSpPr>
          <p:cNvPr id="3" name="直接连接符 18">
            <a:extLst>
              <a:ext uri="{FF2B5EF4-FFF2-40B4-BE49-F238E27FC236}">
                <a16:creationId xmlns:a16="http://schemas.microsoft.com/office/drawing/2014/main" id="{A2141A01-C889-3A1C-029F-AD36C96A6168}"/>
              </a:ext>
            </a:extLst>
          </p:cNvPr>
          <p:cNvCxnSpPr>
            <a:cxnSpLocks/>
          </p:cNvCxnSpPr>
          <p:nvPr/>
        </p:nvCxnSpPr>
        <p:spPr>
          <a:xfrm>
            <a:off x="2619696" y="2605589"/>
            <a:ext cx="394927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AACC2EB-DC44-101E-DD01-FE37A6DABBCE}"/>
              </a:ext>
            </a:extLst>
          </p:cNvPr>
          <p:cNvSpPr txBox="1"/>
          <p:nvPr/>
        </p:nvSpPr>
        <p:spPr>
          <a:xfrm>
            <a:off x="4283765" y="496957"/>
            <a:ext cx="413331" cy="427047"/>
          </a:xfrm>
          <a:prstGeom prst="rect">
            <a:avLst/>
          </a:prstGeom>
          <a:solidFill>
            <a:srgbClr val="615293"/>
          </a:solid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7" name="矩形 24">
            <a:extLst>
              <a:ext uri="{FF2B5EF4-FFF2-40B4-BE49-F238E27FC236}">
                <a16:creationId xmlns:a16="http://schemas.microsoft.com/office/drawing/2014/main" id="{D671B2DD-79F0-680E-7A77-11583CC3FD01}"/>
              </a:ext>
            </a:extLst>
          </p:cNvPr>
          <p:cNvSpPr/>
          <p:nvPr/>
        </p:nvSpPr>
        <p:spPr>
          <a:xfrm>
            <a:off x="3234957" y="2778946"/>
            <a:ext cx="2674084" cy="700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PROBLEM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STATEMENT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9525401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>
            <a:spLocks noGrp="1"/>
          </p:cNvSpPr>
          <p:nvPr>
            <p:ph type="title"/>
          </p:nvPr>
        </p:nvSpPr>
        <p:spPr>
          <a:xfrm>
            <a:off x="216340" y="277832"/>
            <a:ext cx="3395596" cy="34135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200" dirty="0"/>
              <a:t>BACKGROUND</a:t>
            </a:r>
            <a:endParaRPr sz="3200" dirty="0"/>
          </a:p>
        </p:txBody>
      </p:sp>
      <p:cxnSp>
        <p:nvCxnSpPr>
          <p:cNvPr id="136" name="Google Shape;136;p23"/>
          <p:cNvCxnSpPr/>
          <p:nvPr/>
        </p:nvCxnSpPr>
        <p:spPr>
          <a:xfrm>
            <a:off x="2900381" y="850631"/>
            <a:ext cx="6216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0318D67-71B4-FA5D-5D8C-05996FF1AF29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DB443D5-0F00-B5C1-DA11-2FA70F6C48D8}"/>
              </a:ext>
            </a:extLst>
          </p:cNvPr>
          <p:cNvSpPr/>
          <p:nvPr/>
        </p:nvSpPr>
        <p:spPr>
          <a:xfrm>
            <a:off x="544601" y="1102979"/>
            <a:ext cx="2246241" cy="2540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Personalized</a:t>
            </a:r>
            <a:r>
              <a:rPr lang="zh-CN" altLang="en-US" sz="1600" dirty="0"/>
              <a:t> </a:t>
            </a:r>
            <a:r>
              <a:rPr lang="en-US" altLang="zh-CN" sz="1600" dirty="0"/>
              <a:t>Learning</a:t>
            </a:r>
            <a:endParaRPr lang="en-CN" sz="16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BEBFA2-7A3F-06A2-7733-6D3A06544129}"/>
              </a:ext>
            </a:extLst>
          </p:cNvPr>
          <p:cNvSpPr/>
          <p:nvPr/>
        </p:nvSpPr>
        <p:spPr>
          <a:xfrm>
            <a:off x="3897987" y="1102978"/>
            <a:ext cx="1938128" cy="254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Existed</a:t>
            </a:r>
            <a:r>
              <a:rPr lang="zh-CN" altLang="en-US" sz="1600" dirty="0"/>
              <a:t> </a:t>
            </a:r>
            <a:r>
              <a:rPr lang="en-US" altLang="zh-CN" sz="1600" dirty="0"/>
              <a:t>Methods</a:t>
            </a:r>
            <a:endParaRPr lang="en-CN" sz="16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39ACDF-C200-FA83-68EF-317B02B777D0}"/>
              </a:ext>
            </a:extLst>
          </p:cNvPr>
          <p:cNvSpPr txBox="1"/>
          <p:nvPr/>
        </p:nvSpPr>
        <p:spPr>
          <a:xfrm>
            <a:off x="708816" y="1615357"/>
            <a:ext cx="2191565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One-Fits-All</a:t>
            </a:r>
            <a:r>
              <a:rPr lang="zh-C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0A33A2-FFC1-4BC6-2D53-4F0CAE6F7218}"/>
              </a:ext>
            </a:extLst>
          </p:cNvPr>
          <p:cNvSpPr txBox="1"/>
          <p:nvPr/>
        </p:nvSpPr>
        <p:spPr>
          <a:xfrm>
            <a:off x="718757" y="2537242"/>
            <a:ext cx="1938128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Customized</a:t>
            </a:r>
            <a:r>
              <a:rPr lang="zh-C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Teaching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71DEC24-43A0-DC65-29FD-3CC6AB953D9E}"/>
              </a:ext>
            </a:extLst>
          </p:cNvPr>
          <p:cNvCxnSpPr/>
          <p:nvPr/>
        </p:nvCxnSpPr>
        <p:spPr>
          <a:xfrm>
            <a:off x="1603338" y="2030884"/>
            <a:ext cx="0" cy="612000"/>
          </a:xfrm>
          <a:prstGeom prst="straightConnector1">
            <a:avLst/>
          </a:prstGeom>
          <a:ln w="349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D99190B4-9A30-1DBC-4B86-75BDC05AF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391" y="2172238"/>
            <a:ext cx="4009449" cy="2032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3346578-585F-3C3F-E354-4FCBBDBF4BCB}"/>
              </a:ext>
            </a:extLst>
          </p:cNvPr>
          <p:cNvSpPr txBox="1"/>
          <p:nvPr/>
        </p:nvSpPr>
        <p:spPr>
          <a:xfrm>
            <a:off x="3009920" y="4526948"/>
            <a:ext cx="6039609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CN" dirty="0">
                <a:solidFill>
                  <a:schemeClr val="bg2">
                    <a:lumMod val="60000"/>
                    <a:lumOff val="40000"/>
                  </a:schemeClr>
                </a:solidFill>
              </a:rPr>
              <a:t>﻿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[1]</a:t>
            </a: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B</a:t>
            </a:r>
            <a:r>
              <a:rPr lang="en-CN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.-C. Kuo, 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et</a:t>
            </a: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al</a:t>
            </a:r>
            <a:r>
              <a:rPr lang="en-CN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, ”Leveraging LLMs for</a:t>
            </a: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CN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Adaptive Testing and Learning in Taiwan Adaptive Learning Platform</a:t>
            </a:r>
            <a:r>
              <a:rPr lang="zh-CN" altLang="en-US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CN" sz="1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(TALP),” 2023.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4513F7-BC72-B224-6E9B-7AC20C144B8F}"/>
              </a:ext>
            </a:extLst>
          </p:cNvPr>
          <p:cNvSpPr txBox="1"/>
          <p:nvPr/>
        </p:nvSpPr>
        <p:spPr>
          <a:xfrm>
            <a:off x="3897987" y="1483597"/>
            <a:ext cx="3309724" cy="376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</a:t>
            </a:r>
            <a:r>
              <a:rPr lang="zh-C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zh-C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u="sng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Delicated</a:t>
            </a:r>
            <a:r>
              <a:rPr lang="zh-CN" alt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Annotations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E866AC2F-D82A-C5DD-13FE-49E5827EE9B7}"/>
              </a:ext>
            </a:extLst>
          </p:cNvPr>
          <p:cNvCxnSpPr>
            <a:cxnSpLocks/>
          </p:cNvCxnSpPr>
          <p:nvPr/>
        </p:nvCxnSpPr>
        <p:spPr>
          <a:xfrm>
            <a:off x="3134858" y="1102978"/>
            <a:ext cx="0" cy="3259913"/>
          </a:xfrm>
          <a:prstGeom prst="line">
            <a:avLst/>
          </a:prstGeom>
          <a:ln w="19050">
            <a:solidFill>
              <a:schemeClr val="accent1">
                <a:shade val="95000"/>
                <a:satMod val="10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4249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endParaRPr dirty="0"/>
          </a:p>
        </p:txBody>
      </p:sp>
      <p:sp>
        <p:nvSpPr>
          <p:cNvPr id="142" name="Google Shape;142;p24"/>
          <p:cNvSpPr txBox="1">
            <a:spLocks noGrp="1"/>
          </p:cNvSpPr>
          <p:nvPr>
            <p:ph type="body" idx="1"/>
          </p:nvPr>
        </p:nvSpPr>
        <p:spPr>
          <a:xfrm>
            <a:off x="486506" y="2019272"/>
            <a:ext cx="2515111" cy="1943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None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Lack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of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Dataset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]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  <a:buSzPct val="85000"/>
              <a:buNone/>
            </a:pPr>
            <a:r>
              <a:rPr lang="en-US" altLang="zh-CN" sz="1100" b="1" dirty="0">
                <a:solidFill>
                  <a:schemeClr val="bg2"/>
                </a:solidFill>
              </a:rPr>
              <a:t>INTERNAL</a:t>
            </a:r>
            <a:r>
              <a:rPr lang="zh-CN" altLang="en-US" sz="1100" b="1" dirty="0">
                <a:solidFill>
                  <a:schemeClr val="bg2"/>
                </a:solidFill>
              </a:rPr>
              <a:t> </a:t>
            </a:r>
            <a:r>
              <a:rPr lang="en-US" altLang="zh-CN" sz="1100" b="1" dirty="0">
                <a:solidFill>
                  <a:schemeClr val="bg2"/>
                </a:solidFill>
              </a:rPr>
              <a:t>DATA</a:t>
            </a:r>
            <a:r>
              <a:rPr lang="zh-CN" altLang="en-US" sz="1100" b="1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obtained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by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Educational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Platforms/Schools</a:t>
            </a:r>
          </a:p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None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Lack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of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Metrics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]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  <a:buSzPct val="85000"/>
              <a:buNone/>
            </a:pPr>
            <a:r>
              <a:rPr lang="en-US" b="1" dirty="0">
                <a:solidFill>
                  <a:schemeClr val="bg2"/>
                </a:solidFill>
              </a:rPr>
              <a:t>IN-PLATFORM re</a:t>
            </a:r>
            <a:r>
              <a:rPr lang="en-US" altLang="zh-CN" b="1" dirty="0">
                <a:solidFill>
                  <a:schemeClr val="bg2"/>
                </a:solidFill>
              </a:rPr>
              <a:t>tention</a:t>
            </a:r>
            <a:r>
              <a:rPr lang="en-US" b="1" dirty="0">
                <a:solidFill>
                  <a:schemeClr val="bg2"/>
                </a:solidFill>
              </a:rPr>
              <a:t> rate </a:t>
            </a:r>
            <a:r>
              <a:rPr lang="en-US" dirty="0"/>
              <a:t>or student satisfaction rate</a:t>
            </a:r>
            <a:r>
              <a:rPr lang="zh-CN" altLang="en-US" dirty="0"/>
              <a:t> </a:t>
            </a:r>
            <a:r>
              <a:rPr lang="en-US" altLang="zh-CN" dirty="0"/>
              <a:t>or</a:t>
            </a:r>
            <a:r>
              <a:rPr lang="zh-CN" altLang="en-US" dirty="0"/>
              <a:t> </a:t>
            </a:r>
            <a:r>
              <a:rPr lang="en-US" altLang="zh-CN" dirty="0"/>
              <a:t>test</a:t>
            </a:r>
            <a:r>
              <a:rPr lang="zh-CN" altLang="en-US" dirty="0"/>
              <a:t> </a:t>
            </a:r>
            <a:r>
              <a:rPr lang="en-US" altLang="zh-CN" dirty="0"/>
              <a:t>score</a:t>
            </a:r>
            <a:r>
              <a:rPr lang="zh-CN" altLang="en-US" dirty="0"/>
              <a:t> </a:t>
            </a:r>
            <a:r>
              <a:rPr lang="en-US" altLang="zh-CN" dirty="0"/>
              <a:t>improvements</a:t>
            </a:r>
            <a:r>
              <a:rPr lang="en-US" altLang="zh-CN" sz="1400" b="1" dirty="0">
                <a:solidFill>
                  <a:schemeClr val="bg2"/>
                </a:solidFill>
              </a:rPr>
              <a:t> 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43" name="Google Shape;143;p24"/>
          <p:cNvCxnSpPr/>
          <p:nvPr/>
        </p:nvCxnSpPr>
        <p:spPr>
          <a:xfrm>
            <a:off x="393736" y="1130882"/>
            <a:ext cx="6216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0970580-5AE5-616E-8E8C-2E35046496F1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571220-DCC5-D2EB-7DDE-A5A206F36BE1}"/>
              </a:ext>
            </a:extLst>
          </p:cNvPr>
          <p:cNvSpPr/>
          <p:nvPr/>
        </p:nvSpPr>
        <p:spPr>
          <a:xfrm>
            <a:off x="486506" y="1562729"/>
            <a:ext cx="2246241" cy="2540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Challenges</a:t>
            </a:r>
            <a:endParaRPr lang="en-C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27BC7-7D20-9F75-4BDF-6739721A0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6638" y="2796837"/>
            <a:ext cx="5445441" cy="1142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E971D4-A5B5-3DDF-8200-A078E6592D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2328" y="1367191"/>
            <a:ext cx="4342430" cy="130416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A537839-72CC-B469-D6A2-BE8F4AEDFB75}"/>
              </a:ext>
            </a:extLst>
          </p:cNvPr>
          <p:cNvSpPr txBox="1"/>
          <p:nvPr/>
        </p:nvSpPr>
        <p:spPr>
          <a:xfrm>
            <a:off x="3039553" y="4238583"/>
            <a:ext cx="6039609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</a:pPr>
            <a:r>
              <a:rPr lang="en-CN" sz="12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﻿</a:t>
            </a:r>
            <a:r>
              <a:rPr lang="en-US" altLang="zh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[2]</a:t>
            </a:r>
            <a:r>
              <a:rPr lang="zh-CN" altLang="en-US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﻿B. Jiang, et</a:t>
            </a:r>
            <a:r>
              <a:rPr lang="zh-CN" altLang="en-US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al. ”</a:t>
            </a:r>
            <a:r>
              <a:rPr lang="en-US" altLang="zh-CN" sz="1050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Datadriven</a:t>
            </a:r>
            <a:r>
              <a:rPr lang="en-US" altLang="zh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personalized</a:t>
            </a:r>
            <a:r>
              <a:rPr lang="zh-CN" altLang="en-US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learning path planning based on cognitive diagnostic</a:t>
            </a:r>
            <a:r>
              <a:rPr lang="zh-CN" altLang="en-US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assessments in MOOCs”.</a:t>
            </a:r>
            <a:r>
              <a:rPr lang="zh-CN" altLang="en-US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2022</a:t>
            </a:r>
            <a:r>
              <a:rPr lang="en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.</a:t>
            </a:r>
          </a:p>
          <a:p>
            <a:pPr algn="r"/>
            <a:r>
              <a:rPr lang="en-US" altLang="zh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[3]</a:t>
            </a:r>
            <a:r>
              <a:rPr lang="zh-CN" altLang="en-US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﻿C. Ng and Y. Fung, “Educational Personalized Learning Path Planning</a:t>
            </a:r>
            <a:r>
              <a:rPr lang="zh-CN" altLang="en-US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en-US" altLang="zh-CN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with Large Language Models”. 2024</a:t>
            </a:r>
            <a:r>
              <a:rPr lang="zh-CN" altLang="en-US" sz="105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endParaRPr lang="en-CN" sz="105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>
          <a:extLst>
            <a:ext uri="{FF2B5EF4-FFF2-40B4-BE49-F238E27FC236}">
              <a16:creationId xmlns:a16="http://schemas.microsoft.com/office/drawing/2014/main" id="{5E4BA7F9-B1D2-427B-21AD-AC9FC7C3F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4">
            <a:extLst>
              <a:ext uri="{FF2B5EF4-FFF2-40B4-BE49-F238E27FC236}">
                <a16:creationId xmlns:a16="http://schemas.microsoft.com/office/drawing/2014/main" id="{10F4BCEC-A7BB-507B-70E9-630856FD00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4813" y="267183"/>
            <a:ext cx="8424900" cy="114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RESEARCH</a:t>
            </a:r>
            <a:r>
              <a:rPr lang="zh-CN" altLang="en-US" dirty="0"/>
              <a:t> </a:t>
            </a:r>
            <a:r>
              <a:rPr lang="en-US" altLang="zh-CN" dirty="0"/>
              <a:t>QUESTIONS</a:t>
            </a:r>
            <a:endParaRPr dirty="0"/>
          </a:p>
        </p:txBody>
      </p:sp>
      <p:sp>
        <p:nvSpPr>
          <p:cNvPr id="142" name="Google Shape;142;p24">
            <a:extLst>
              <a:ext uri="{FF2B5EF4-FFF2-40B4-BE49-F238E27FC236}">
                <a16:creationId xmlns:a16="http://schemas.microsoft.com/office/drawing/2014/main" id="{3574EE51-C81A-53DC-0A9C-AB11E8C320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700" y="3025867"/>
            <a:ext cx="4459871" cy="165742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None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Education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]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SzPct val="85000"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What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is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Good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Study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Plan</a:t>
            </a: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None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Recommendation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]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SzPct val="85000"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What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is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Good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Query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Recommendation</a:t>
            </a:r>
          </a:p>
        </p:txBody>
      </p:sp>
      <p:cxnSp>
        <p:nvCxnSpPr>
          <p:cNvPr id="143" name="Google Shape;143;p24">
            <a:extLst>
              <a:ext uri="{FF2B5EF4-FFF2-40B4-BE49-F238E27FC236}">
                <a16:creationId xmlns:a16="http://schemas.microsoft.com/office/drawing/2014/main" id="{402881A6-7D86-74DA-26A1-FAF082B159DF}"/>
              </a:ext>
            </a:extLst>
          </p:cNvPr>
          <p:cNvCxnSpPr/>
          <p:nvPr/>
        </p:nvCxnSpPr>
        <p:spPr>
          <a:xfrm>
            <a:off x="361920" y="938376"/>
            <a:ext cx="6216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38852977-B732-B583-7559-9BE5C043FFD9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213FE4E-7357-906F-8983-5018CAB59090}"/>
              </a:ext>
            </a:extLst>
          </p:cNvPr>
          <p:cNvSpPr/>
          <p:nvPr/>
        </p:nvSpPr>
        <p:spPr>
          <a:xfrm>
            <a:off x="361920" y="2648594"/>
            <a:ext cx="2246241" cy="2540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Application</a:t>
            </a:r>
            <a:endParaRPr lang="en-CN" sz="1600" dirty="0"/>
          </a:p>
        </p:txBody>
      </p:sp>
      <p:sp>
        <p:nvSpPr>
          <p:cNvPr id="2" name="Google Shape;142;p24">
            <a:extLst>
              <a:ext uri="{FF2B5EF4-FFF2-40B4-BE49-F238E27FC236}">
                <a16:creationId xmlns:a16="http://schemas.microsoft.com/office/drawing/2014/main" id="{7197BE4D-5338-B0AC-343F-393DA055A148}"/>
              </a:ext>
            </a:extLst>
          </p:cNvPr>
          <p:cNvSpPr txBox="1">
            <a:spLocks/>
          </p:cNvSpPr>
          <p:nvPr/>
        </p:nvSpPr>
        <p:spPr>
          <a:xfrm>
            <a:off x="1239162" y="1591699"/>
            <a:ext cx="6476202" cy="771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 algn="ctr">
              <a:lnSpc>
                <a:spcPct val="150000"/>
              </a:lnSpc>
              <a:spcAft>
                <a:spcPts val="1000"/>
              </a:spcAft>
              <a:buSzPct val="85000"/>
              <a:buFont typeface="Montserrat"/>
              <a:buNone/>
            </a:pPr>
            <a:r>
              <a:rPr lang="en-US" altLang="zh-CN" sz="1400" b="1" dirty="0">
                <a:solidFill>
                  <a:schemeClr val="accent4"/>
                </a:solidFill>
              </a:rPr>
              <a:t>How</a:t>
            </a:r>
            <a:r>
              <a:rPr lang="zh-CN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zh-CN" sz="1400" b="1" dirty="0">
                <a:solidFill>
                  <a:schemeClr val="accent4"/>
                </a:solidFill>
              </a:rPr>
              <a:t>to</a:t>
            </a:r>
            <a:r>
              <a:rPr lang="zh-CN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zh-CN" sz="1400" b="1" dirty="0">
                <a:solidFill>
                  <a:schemeClr val="accent4"/>
                </a:solidFill>
              </a:rPr>
              <a:t>Systematically</a:t>
            </a:r>
            <a:r>
              <a:rPr lang="zh-CN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zh-CN" sz="1400" b="1" dirty="0">
                <a:solidFill>
                  <a:schemeClr val="accent4"/>
                </a:solidFill>
              </a:rPr>
              <a:t>Evaluate</a:t>
            </a:r>
            <a:r>
              <a:rPr lang="zh-CN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zh-CN" sz="1400" b="1" dirty="0">
                <a:solidFill>
                  <a:schemeClr val="accent4"/>
                </a:solidFill>
              </a:rPr>
              <a:t>LLMs</a:t>
            </a:r>
            <a:r>
              <a:rPr lang="zh-CN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zh-CN" sz="1400" b="1" dirty="0">
                <a:solidFill>
                  <a:schemeClr val="accent4"/>
                </a:solidFill>
              </a:rPr>
              <a:t>Generated</a:t>
            </a:r>
            <a:r>
              <a:rPr lang="zh-CN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zh-CN" sz="1400" b="1" dirty="0">
                <a:solidFill>
                  <a:schemeClr val="accent4"/>
                </a:solidFill>
              </a:rPr>
              <a:t>Responses</a:t>
            </a:r>
            <a:r>
              <a:rPr lang="zh-CN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zh-CN" sz="1400" b="1" dirty="0">
                <a:solidFill>
                  <a:schemeClr val="accent4"/>
                </a:solidFill>
              </a:rPr>
              <a:t>Regarding</a:t>
            </a:r>
            <a:r>
              <a:rPr lang="zh-CN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zh-CN" sz="1400" b="1" dirty="0">
                <a:solidFill>
                  <a:schemeClr val="accent4"/>
                </a:solidFill>
              </a:rPr>
              <a:t>Generalized</a:t>
            </a:r>
            <a:r>
              <a:rPr lang="zh-CN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zh-CN" sz="1400" b="1" dirty="0">
                <a:solidFill>
                  <a:schemeClr val="accent4"/>
                </a:solidFill>
              </a:rPr>
              <a:t>Real-World</a:t>
            </a:r>
            <a:r>
              <a:rPr lang="zh-CN" altLang="en-US" sz="1400" b="1" dirty="0">
                <a:solidFill>
                  <a:schemeClr val="accent4"/>
                </a:solidFill>
              </a:rPr>
              <a:t> </a:t>
            </a:r>
            <a:r>
              <a:rPr lang="en-US" altLang="zh-CN" sz="1400" b="1" dirty="0">
                <a:solidFill>
                  <a:schemeClr val="accent4"/>
                </a:solidFill>
              </a:rPr>
              <a:t>Problems</a:t>
            </a:r>
            <a:endParaRPr lang="en-US" sz="1400" b="1" dirty="0">
              <a:solidFill>
                <a:schemeClr val="accent4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DBB0DE-6470-D925-1404-B89A6A17282F}"/>
              </a:ext>
            </a:extLst>
          </p:cNvPr>
          <p:cNvSpPr/>
          <p:nvPr/>
        </p:nvSpPr>
        <p:spPr>
          <a:xfrm>
            <a:off x="3184634" y="1195576"/>
            <a:ext cx="2246241" cy="2540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Questions</a:t>
            </a:r>
            <a:endParaRPr lang="en-CN" sz="1600" dirty="0"/>
          </a:p>
        </p:txBody>
      </p:sp>
      <p:sp>
        <p:nvSpPr>
          <p:cNvPr id="9" name="Google Shape;142;p24">
            <a:extLst>
              <a:ext uri="{FF2B5EF4-FFF2-40B4-BE49-F238E27FC236}">
                <a16:creationId xmlns:a16="http://schemas.microsoft.com/office/drawing/2014/main" id="{0F35D825-22A4-D86C-A6DD-92DDAB252250}"/>
              </a:ext>
            </a:extLst>
          </p:cNvPr>
          <p:cNvSpPr txBox="1">
            <a:spLocks/>
          </p:cNvSpPr>
          <p:nvPr/>
        </p:nvSpPr>
        <p:spPr>
          <a:xfrm>
            <a:off x="4687612" y="2653379"/>
            <a:ext cx="4641573" cy="2571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●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048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200"/>
              <a:buFont typeface="Montserrat"/>
              <a:buChar char="○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04800" algn="l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200"/>
              <a:buFont typeface="Montserrat"/>
              <a:buChar char="■"/>
              <a:defRPr sz="12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285750" indent="-285750">
              <a:lnSpc>
                <a:spcPct val="100000"/>
              </a:lnSpc>
              <a:spcAft>
                <a:spcPts val="1000"/>
              </a:spcAft>
              <a:buSzPct val="85000"/>
            </a:pPr>
            <a:endParaRPr lang="en-US" sz="1400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None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E-Commerce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]</a:t>
            </a:r>
          </a:p>
          <a:p>
            <a:pPr marL="285750" indent="-285750">
              <a:lnSpc>
                <a:spcPct val="100000"/>
              </a:lnSpc>
              <a:spcAft>
                <a:spcPts val="1000"/>
              </a:spcAft>
              <a:buSzPct val="85000"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What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is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A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Good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Dialogue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Summarization</a:t>
            </a:r>
          </a:p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None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……</a:t>
            </a:r>
          </a:p>
          <a:p>
            <a:pPr marL="0" indent="0" algn="ctr">
              <a:lnSpc>
                <a:spcPct val="100000"/>
              </a:lnSpc>
              <a:spcAft>
                <a:spcPts val="1000"/>
              </a:spcAft>
              <a:buSzPct val="85000"/>
              <a:buFont typeface="Montserrat"/>
              <a:buNone/>
            </a:pPr>
            <a:r>
              <a:rPr lang="en-US" altLang="zh-CN" sz="1400" b="1" dirty="0">
                <a:solidFill>
                  <a:schemeClr val="tx2">
                    <a:lumMod val="50000"/>
                  </a:schemeClr>
                </a:solidFill>
              </a:rPr>
              <a:t>Innumerous</a:t>
            </a: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tx2">
                    <a:lumMod val="50000"/>
                  </a:schemeClr>
                </a:solidFill>
              </a:rPr>
              <a:t>Real-World</a:t>
            </a: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tx2">
                    <a:lumMod val="50000"/>
                  </a:schemeClr>
                </a:solidFill>
              </a:rPr>
              <a:t>Domains</a:t>
            </a:r>
            <a:endParaRPr lang="en-US" sz="1400" b="1" dirty="0">
              <a:solidFill>
                <a:schemeClr val="tx2">
                  <a:lumMod val="50000"/>
                </a:schemeClr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041CD0-A4C3-11AB-0A82-ADE9BFAA0E90}"/>
              </a:ext>
            </a:extLst>
          </p:cNvPr>
          <p:cNvCxnSpPr>
            <a:cxnSpLocks/>
          </p:cNvCxnSpPr>
          <p:nvPr/>
        </p:nvCxnSpPr>
        <p:spPr>
          <a:xfrm>
            <a:off x="2818225" y="2731647"/>
            <a:ext cx="556046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9250527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BA9471BB-882C-FBC7-1119-676E6EBB0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4">
            <a:extLst>
              <a:ext uri="{FF2B5EF4-FFF2-40B4-BE49-F238E27FC236}">
                <a16:creationId xmlns:a16="http://schemas.microsoft.com/office/drawing/2014/main" id="{D9DE195B-E4E1-FB04-C8CC-CE1454CFB127}"/>
              </a:ext>
            </a:extLst>
          </p:cNvPr>
          <p:cNvSpPr/>
          <p:nvPr/>
        </p:nvSpPr>
        <p:spPr>
          <a:xfrm>
            <a:off x="4195513" y="1865562"/>
            <a:ext cx="752973" cy="672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2</a:t>
            </a:r>
            <a:endParaRPr lang="zh-CN" altLang="en-US" sz="2400" b="1" dirty="0"/>
          </a:p>
        </p:txBody>
      </p:sp>
      <p:cxnSp>
        <p:nvCxnSpPr>
          <p:cNvPr id="3" name="直接连接符 18">
            <a:extLst>
              <a:ext uri="{FF2B5EF4-FFF2-40B4-BE49-F238E27FC236}">
                <a16:creationId xmlns:a16="http://schemas.microsoft.com/office/drawing/2014/main" id="{9F4E84C0-E68F-476E-9EB2-F73CF0C2D299}"/>
              </a:ext>
            </a:extLst>
          </p:cNvPr>
          <p:cNvCxnSpPr>
            <a:cxnSpLocks/>
          </p:cNvCxnSpPr>
          <p:nvPr/>
        </p:nvCxnSpPr>
        <p:spPr>
          <a:xfrm>
            <a:off x="2619696" y="2605589"/>
            <a:ext cx="394927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4929CB5-E23F-3383-CA74-73C990E714FF}"/>
              </a:ext>
            </a:extLst>
          </p:cNvPr>
          <p:cNvSpPr txBox="1"/>
          <p:nvPr/>
        </p:nvSpPr>
        <p:spPr>
          <a:xfrm>
            <a:off x="4283765" y="496957"/>
            <a:ext cx="413331" cy="427047"/>
          </a:xfrm>
          <a:prstGeom prst="rect">
            <a:avLst/>
          </a:prstGeom>
          <a:solidFill>
            <a:srgbClr val="615293"/>
          </a:solid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7" name="矩形 24">
            <a:extLst>
              <a:ext uri="{FF2B5EF4-FFF2-40B4-BE49-F238E27FC236}">
                <a16:creationId xmlns:a16="http://schemas.microsoft.com/office/drawing/2014/main" id="{BDC4E9DB-F51A-DE91-142F-C03A34B008C9}"/>
              </a:ext>
            </a:extLst>
          </p:cNvPr>
          <p:cNvSpPr/>
          <p:nvPr/>
        </p:nvSpPr>
        <p:spPr>
          <a:xfrm>
            <a:off x="3083671" y="2778947"/>
            <a:ext cx="2976657" cy="71047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CN" altLang="zh-CN" sz="2400" b="1" dirty="0"/>
              <a:t>MAJOR</a:t>
            </a:r>
          </a:p>
          <a:p>
            <a:pPr algn="ctr"/>
            <a:r>
              <a:rPr lang="en-CN" altLang="zh-CN" sz="2400" b="1" dirty="0"/>
              <a:t>CONTRIBUTIONS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962465824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/>
          <p:cNvSpPr txBox="1">
            <a:spLocks noGrp="1"/>
          </p:cNvSpPr>
          <p:nvPr>
            <p:ph type="title"/>
          </p:nvPr>
        </p:nvSpPr>
        <p:spPr>
          <a:xfrm>
            <a:off x="264813" y="293541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Custom</a:t>
            </a:r>
            <a:r>
              <a:rPr lang="zh-CN" altLang="en-US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altLang="zh-CN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Evaluation</a:t>
            </a:r>
            <a:r>
              <a:rPr lang="zh-CN" altLang="en-US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altLang="zh-CN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Metrics</a:t>
            </a:r>
            <a:r>
              <a:rPr lang="zh-CN" altLang="en-US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br>
              <a:rPr lang="en-US" altLang="zh-CN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</a:br>
            <a:r>
              <a:rPr lang="en-US" altLang="zh-CN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Integrated</a:t>
            </a:r>
            <a:r>
              <a:rPr lang="zh-CN" altLang="en-US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altLang="zh-CN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LLM</a:t>
            </a:r>
            <a:r>
              <a:rPr lang="zh-CN" altLang="en-US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altLang="zh-CN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Application</a:t>
            </a:r>
            <a:r>
              <a:rPr lang="zh-CN" altLang="en-US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-US" altLang="zh-CN" sz="28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Framework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86F11D-ADC2-1155-F61C-D802642524A0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43B95B-4367-9058-6173-71E995132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909" y="1188122"/>
            <a:ext cx="7138164" cy="342564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>
          <a:extLst>
            <a:ext uri="{FF2B5EF4-FFF2-40B4-BE49-F238E27FC236}">
              <a16:creationId xmlns:a16="http://schemas.microsoft.com/office/drawing/2014/main" id="{10751039-7619-BC62-BB0C-4E0BFBA7F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7">
            <a:extLst>
              <a:ext uri="{FF2B5EF4-FFF2-40B4-BE49-F238E27FC236}">
                <a16:creationId xmlns:a16="http://schemas.microsoft.com/office/drawing/2014/main" id="{FAD5535A-F69C-3EAE-0B61-7EE3032A07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999050"/>
            <a:ext cx="8424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800" dirty="0"/>
              <a:t>EVALUATIONS</a:t>
            </a:r>
            <a:br>
              <a:rPr lang="en-US" altLang="zh-CN" sz="2800" dirty="0"/>
            </a:br>
            <a:r>
              <a:rPr lang="en-US" altLang="zh-CN" sz="2800" dirty="0"/>
              <a:t>GENERATION</a:t>
            </a:r>
            <a:br>
              <a:rPr lang="en-US" altLang="zh-CN" sz="2800" dirty="0"/>
            </a:br>
            <a:r>
              <a:rPr lang="en-US" altLang="zh-CN" sz="2800" dirty="0"/>
              <a:t>PROCEDURE</a:t>
            </a:r>
            <a:endParaRPr sz="4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1488960-E0FE-0ED4-5367-2D519D58605C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12F94AB-32A4-9199-3F16-64FD55044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6320" y="394725"/>
            <a:ext cx="5832316" cy="420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77717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4">
            <a:extLst>
              <a:ext uri="{FF2B5EF4-FFF2-40B4-BE49-F238E27FC236}">
                <a16:creationId xmlns:a16="http://schemas.microsoft.com/office/drawing/2014/main" id="{DF24779F-C82B-554E-3A33-400C5A0A54D2}"/>
              </a:ext>
            </a:extLst>
          </p:cNvPr>
          <p:cNvSpPr/>
          <p:nvPr/>
        </p:nvSpPr>
        <p:spPr>
          <a:xfrm>
            <a:off x="4195513" y="1865562"/>
            <a:ext cx="752973" cy="672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3</a:t>
            </a:r>
            <a:endParaRPr lang="zh-CN" altLang="en-US" sz="2400" b="1" dirty="0"/>
          </a:p>
        </p:txBody>
      </p:sp>
      <p:cxnSp>
        <p:nvCxnSpPr>
          <p:cNvPr id="3" name="直接连接符 18">
            <a:extLst>
              <a:ext uri="{FF2B5EF4-FFF2-40B4-BE49-F238E27FC236}">
                <a16:creationId xmlns:a16="http://schemas.microsoft.com/office/drawing/2014/main" id="{1C1EFB13-E93B-97E5-9596-D406E34493DA}"/>
              </a:ext>
            </a:extLst>
          </p:cNvPr>
          <p:cNvCxnSpPr>
            <a:cxnSpLocks/>
          </p:cNvCxnSpPr>
          <p:nvPr/>
        </p:nvCxnSpPr>
        <p:spPr>
          <a:xfrm>
            <a:off x="2619696" y="2605589"/>
            <a:ext cx="394927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5497F40-3B35-4B81-D347-6F95F944E3E6}"/>
              </a:ext>
            </a:extLst>
          </p:cNvPr>
          <p:cNvSpPr txBox="1"/>
          <p:nvPr/>
        </p:nvSpPr>
        <p:spPr>
          <a:xfrm>
            <a:off x="4283765" y="496957"/>
            <a:ext cx="413331" cy="427047"/>
          </a:xfrm>
          <a:prstGeom prst="rect">
            <a:avLst/>
          </a:prstGeom>
          <a:solidFill>
            <a:srgbClr val="615293"/>
          </a:solid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7" name="矩形 24">
            <a:extLst>
              <a:ext uri="{FF2B5EF4-FFF2-40B4-BE49-F238E27FC236}">
                <a16:creationId xmlns:a16="http://schemas.microsoft.com/office/drawing/2014/main" id="{F0E31E9C-DD11-8359-5281-959BD5DDB1FF}"/>
              </a:ext>
            </a:extLst>
          </p:cNvPr>
          <p:cNvSpPr/>
          <p:nvPr/>
        </p:nvSpPr>
        <p:spPr>
          <a:xfrm>
            <a:off x="3234957" y="2673268"/>
            <a:ext cx="2674084" cy="700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EVALUATIONS</a:t>
            </a:r>
            <a:endParaRPr lang="zh-CN" altLang="en-US" sz="2400" b="1" dirty="0"/>
          </a:p>
        </p:txBody>
      </p:sp>
    </p:spTree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9" descr="Street in New York City lined with towering skyscrapers."/>
          <p:cNvPicPr preferRelativeResize="0"/>
          <p:nvPr/>
        </p:nvPicPr>
        <p:blipFill rotWithShape="1">
          <a:blip r:embed="rId3">
            <a:alphaModFix/>
          </a:blip>
          <a:srcRect t="23216" b="1916"/>
          <a:stretch/>
        </p:blipFill>
        <p:spPr>
          <a:xfrm>
            <a:off x="4572000" y="-89375"/>
            <a:ext cx="4572000" cy="52775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9" name="Google Shape;179;p29"/>
          <p:cNvCxnSpPr/>
          <p:nvPr/>
        </p:nvCxnSpPr>
        <p:spPr>
          <a:xfrm>
            <a:off x="311699" y="1229377"/>
            <a:ext cx="621600" cy="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9"/>
          <p:cNvCxnSpPr/>
          <p:nvPr/>
        </p:nvCxnSpPr>
        <p:spPr>
          <a:xfrm>
            <a:off x="4572004" y="0"/>
            <a:ext cx="0" cy="5188200"/>
          </a:xfrm>
          <a:prstGeom prst="straightConnector1">
            <a:avLst/>
          </a:prstGeom>
          <a:noFill/>
          <a:ln w="76200" cap="flat" cmpd="sng">
            <a:solidFill>
              <a:srgbClr val="8900E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Google Shape;193;p30">
            <a:extLst>
              <a:ext uri="{FF2B5EF4-FFF2-40B4-BE49-F238E27FC236}">
                <a16:creationId xmlns:a16="http://schemas.microsoft.com/office/drawing/2014/main" id="{94C1C5D5-515F-2673-A6FA-8FB03C229BD9}"/>
              </a:ext>
            </a:extLst>
          </p:cNvPr>
          <p:cNvSpPr txBox="1">
            <a:spLocks/>
          </p:cNvSpPr>
          <p:nvPr/>
        </p:nvSpPr>
        <p:spPr>
          <a:xfrm>
            <a:off x="190246" y="44700"/>
            <a:ext cx="4060921" cy="904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 sz="4200" b="0" i="0" u="none" strike="noStrike" cap="none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r>
              <a:rPr lang="en-US" altLang="zh-CN" dirty="0"/>
              <a:t>QUANTATIVE</a:t>
            </a:r>
            <a:br>
              <a:rPr lang="en-US" altLang="zh-CN" dirty="0"/>
            </a:br>
            <a:r>
              <a:rPr lang="en-US" altLang="zh-CN" dirty="0"/>
              <a:t>METRICS</a:t>
            </a:r>
            <a:endParaRPr lang="en-US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E70B68C6-6377-A485-270A-41A1C8870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53565"/>
              </p:ext>
            </p:extLst>
          </p:nvPr>
        </p:nvGraphicFramePr>
        <p:xfrm>
          <a:off x="684255" y="2213811"/>
          <a:ext cx="3072902" cy="15430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451">
                  <a:extLst>
                    <a:ext uri="{9D8B030D-6E8A-4147-A177-3AD203B41FA5}">
                      <a16:colId xmlns:a16="http://schemas.microsoft.com/office/drawing/2014/main" val="657834096"/>
                    </a:ext>
                  </a:extLst>
                </a:gridCol>
                <a:gridCol w="1536451">
                  <a:extLst>
                    <a:ext uri="{9D8B030D-6E8A-4147-A177-3AD203B41FA5}">
                      <a16:colId xmlns:a16="http://schemas.microsoft.com/office/drawing/2014/main" val="1902858572"/>
                    </a:ext>
                  </a:extLst>
                </a:gridCol>
              </a:tblGrid>
              <a:tr h="288897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MODELS</a:t>
                      </a:r>
                      <a:endParaRPr lang="en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ACCURACY</a:t>
                      </a:r>
                      <a:endParaRPr lang="en-C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268980"/>
                  </a:ext>
                </a:extLst>
              </a:tr>
              <a:tr h="4057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Finetuned</a:t>
                      </a:r>
                      <a:r>
                        <a:rPr lang="zh-CN" altLang="en-US" sz="1100" dirty="0"/>
                        <a:t> </a:t>
                      </a:r>
                      <a:r>
                        <a:rPr lang="en-US" altLang="zh-CN" sz="1100" dirty="0"/>
                        <a:t>Model</a:t>
                      </a:r>
                      <a:endParaRPr lang="en-C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0.635</a:t>
                      </a:r>
                      <a:endParaRPr lang="en-C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194833"/>
                  </a:ext>
                </a:extLst>
              </a:tr>
              <a:tr h="405777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Llama-3B-Instruct</a:t>
                      </a:r>
                      <a:endParaRPr lang="en-C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0.735</a:t>
                      </a:r>
                      <a:endParaRPr lang="en-C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8342284"/>
                  </a:ext>
                </a:extLst>
              </a:tr>
              <a:tr h="40577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zh-CN" sz="1100" dirty="0"/>
                        <a:t>Llama-1B-Instruct</a:t>
                      </a:r>
                      <a:endParaRPr lang="en-CN" sz="1100" dirty="0"/>
                    </a:p>
                    <a:p>
                      <a:pPr algn="ctr"/>
                      <a:endParaRPr lang="en-CN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0.295</a:t>
                      </a:r>
                      <a:endParaRPr lang="en-CN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9472121"/>
                  </a:ext>
                </a:extLst>
              </a:tr>
            </a:tbl>
          </a:graphicData>
        </a:graphic>
      </p:graphicFrame>
      <p:sp>
        <p:nvSpPr>
          <p:cNvPr id="10" name="Google Shape;163;p27">
            <a:extLst>
              <a:ext uri="{FF2B5EF4-FFF2-40B4-BE49-F238E27FC236}">
                <a16:creationId xmlns:a16="http://schemas.microsoft.com/office/drawing/2014/main" id="{C04B12AB-036C-E83C-0560-528649CBA3BF}"/>
              </a:ext>
            </a:extLst>
          </p:cNvPr>
          <p:cNvSpPr txBox="1"/>
          <p:nvPr/>
        </p:nvSpPr>
        <p:spPr>
          <a:xfrm>
            <a:off x="622499" y="1361712"/>
            <a:ext cx="3174021" cy="570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Dataset:</a:t>
            </a:r>
            <a:r>
              <a:rPr lang="zh-CN" altLang="en-US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GSM8K</a:t>
            </a:r>
            <a:r>
              <a:rPr lang="zh-CN" altLang="en-US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(Math)</a:t>
            </a:r>
          </a:p>
          <a:p>
            <a:pPr marL="171450" lvl="0" indent="-17145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Framework:</a:t>
            </a:r>
            <a:r>
              <a:rPr lang="zh-CN" altLang="en-US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Unsloth</a:t>
            </a:r>
            <a:r>
              <a:rPr lang="zh-CN" altLang="en-US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en-US" altLang="zh-CN" sz="1000" dirty="0" err="1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LoRA+Quantization</a:t>
            </a:r>
            <a:r>
              <a:rPr lang="en-US" altLang="zh-CN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marL="171450" lvl="0" indent="-171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Model:</a:t>
            </a:r>
            <a:r>
              <a:rPr lang="zh-CN" altLang="en-US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Llama-3B</a:t>
            </a:r>
          </a:p>
          <a:p>
            <a:pPr marL="171450" lvl="0" indent="-171450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0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59466653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>
            <a:spLocks noGrp="1"/>
          </p:cNvSpPr>
          <p:nvPr>
            <p:ph type="title"/>
          </p:nvPr>
        </p:nvSpPr>
        <p:spPr>
          <a:xfrm>
            <a:off x="242126" y="309508"/>
            <a:ext cx="65511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Use</a:t>
            </a:r>
            <a:r>
              <a:rPr lang="zh-CN" altLang="en-US" dirty="0"/>
              <a:t> </a:t>
            </a:r>
            <a:r>
              <a:rPr lang="en-US" altLang="zh-CN" dirty="0"/>
              <a:t>Case</a:t>
            </a:r>
            <a:endParaRPr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408E2E6-6DAA-4C06-3084-171B42953B13}"/>
              </a:ext>
            </a:extLst>
          </p:cNvPr>
          <p:cNvSpPr/>
          <p:nvPr/>
        </p:nvSpPr>
        <p:spPr>
          <a:xfrm>
            <a:off x="702128" y="1180679"/>
            <a:ext cx="4057651" cy="346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PHASE1:</a:t>
            </a:r>
            <a:r>
              <a:rPr lang="zh-CN" altLang="en-US" sz="1600" dirty="0"/>
              <a:t> </a:t>
            </a:r>
            <a:r>
              <a:rPr lang="en-US" altLang="zh-CN" sz="1600" dirty="0"/>
              <a:t>INITIAL</a:t>
            </a:r>
            <a:r>
              <a:rPr lang="zh-CN" altLang="en-US" sz="1600" dirty="0"/>
              <a:t> </a:t>
            </a:r>
            <a:r>
              <a:rPr lang="en-US" altLang="zh-CN" sz="1600" dirty="0"/>
              <a:t>EVALUATIONS</a:t>
            </a:r>
            <a:endParaRPr lang="en-CN" sz="1600" dirty="0"/>
          </a:p>
        </p:txBody>
      </p:sp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8696B61B-B68E-BB74-2770-5FF23BCC4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128" y="1739992"/>
            <a:ext cx="7739743" cy="2410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117E40-51C8-0F3D-85CF-A727A71D7DD9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</p:spTree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EE336365-E2D7-E735-2E04-0FEF8758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DECF4D1-CDE0-3148-DBED-08B3D9DF8103}"/>
              </a:ext>
            </a:extLst>
          </p:cNvPr>
          <p:cNvSpPr/>
          <p:nvPr/>
        </p:nvSpPr>
        <p:spPr>
          <a:xfrm>
            <a:off x="514349" y="531845"/>
            <a:ext cx="4057651" cy="34604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PHASE1:</a:t>
            </a:r>
            <a:r>
              <a:rPr lang="zh-CN" altLang="en-US" sz="1600" dirty="0"/>
              <a:t> </a:t>
            </a:r>
            <a:r>
              <a:rPr lang="en-US" altLang="zh-CN" sz="1600" dirty="0"/>
              <a:t>INITIAL</a:t>
            </a:r>
            <a:r>
              <a:rPr lang="zh-CN" altLang="en-US" sz="1600" dirty="0"/>
              <a:t> </a:t>
            </a:r>
            <a:r>
              <a:rPr lang="en-US" altLang="zh-CN" sz="1600" dirty="0"/>
              <a:t>EVALUATIONS</a:t>
            </a:r>
            <a:endParaRPr lang="en-CN" sz="16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6CDC53-5211-6E14-C198-B827FCE18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195397"/>
            <a:ext cx="7772400" cy="28996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56FE99-10C1-F429-7D70-4DD0944241E6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44522311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B0512396-FF3E-F956-A5BF-FC68CD41B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B2BD97F-B31F-6491-3A57-96B9E62D2490}"/>
              </a:ext>
            </a:extLst>
          </p:cNvPr>
          <p:cNvSpPr/>
          <p:nvPr/>
        </p:nvSpPr>
        <p:spPr>
          <a:xfrm>
            <a:off x="481691" y="786298"/>
            <a:ext cx="7102930" cy="287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Round1:</a:t>
            </a:r>
            <a:r>
              <a:rPr lang="zh-CN" altLang="en-US" sz="1600" dirty="0"/>
              <a:t> </a:t>
            </a:r>
            <a:r>
              <a:rPr lang="en-US" altLang="zh-CN" sz="1600" dirty="0"/>
              <a:t>Compare</a:t>
            </a:r>
            <a:r>
              <a:rPr lang="zh-CN" altLang="en-US" sz="1600" dirty="0"/>
              <a:t> </a:t>
            </a:r>
            <a:r>
              <a:rPr lang="en-US" altLang="zh-CN" sz="1600" dirty="0"/>
              <a:t>and</a:t>
            </a:r>
            <a:r>
              <a:rPr lang="zh-CN" altLang="en-US" sz="1600" dirty="0"/>
              <a:t>  </a:t>
            </a:r>
            <a:r>
              <a:rPr lang="en-US" altLang="zh-CN" sz="1600" dirty="0"/>
              <a:t>Expand</a:t>
            </a:r>
            <a:r>
              <a:rPr lang="zh-CN" altLang="en-US" sz="1600" dirty="0"/>
              <a:t> </a:t>
            </a:r>
            <a:r>
              <a:rPr lang="en-US" altLang="zh-CN" sz="1600" dirty="0"/>
              <a:t>Evaluations</a:t>
            </a:r>
            <a:r>
              <a:rPr lang="zh-CN" altLang="en-US" sz="1600" dirty="0"/>
              <a:t> </a:t>
            </a:r>
            <a:r>
              <a:rPr lang="en-US" altLang="zh-CN" sz="1600" dirty="0"/>
              <a:t>Dimensions</a:t>
            </a:r>
            <a:endParaRPr lang="en-CN" sz="16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0276EE9-62A7-E353-6AC2-3B90C3C89C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91" y="2093786"/>
            <a:ext cx="6506937" cy="2356373"/>
          </a:xfrm>
          <a:prstGeom prst="rect">
            <a:avLst/>
          </a:prstGeom>
        </p:spPr>
      </p:pic>
      <p:pic>
        <p:nvPicPr>
          <p:cNvPr id="5122" name="Picture 2" descr="Image">
            <a:extLst>
              <a:ext uri="{FF2B5EF4-FFF2-40B4-BE49-F238E27FC236}">
                <a16:creationId xmlns:a16="http://schemas.microsoft.com/office/drawing/2014/main" id="{D976664E-E8A5-9CEB-F8D4-E7FBB6E5E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1691" y="1289901"/>
            <a:ext cx="7000656" cy="635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169;p27">
            <a:extLst>
              <a:ext uri="{FF2B5EF4-FFF2-40B4-BE49-F238E27FC236}">
                <a16:creationId xmlns:a16="http://schemas.microsoft.com/office/drawing/2014/main" id="{AA0F0523-6408-6877-4BB1-0B072A4AA4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170" y="135269"/>
            <a:ext cx="8118102" cy="9388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3200" dirty="0"/>
              <a:t>PHASE2</a:t>
            </a:r>
            <a:r>
              <a:rPr lang="zh-CN" altLang="en-US" sz="3200" dirty="0"/>
              <a:t>｜</a:t>
            </a:r>
            <a:r>
              <a:rPr lang="en-US" altLang="zh-CN" sz="3200" dirty="0"/>
              <a:t>REFINE</a:t>
            </a:r>
            <a:r>
              <a:rPr lang="zh-CN" altLang="en-US" sz="3200" dirty="0"/>
              <a:t> </a:t>
            </a:r>
            <a:r>
              <a:rPr lang="en-US" altLang="zh-CN" sz="3200" dirty="0"/>
              <a:t>EVALUATIONS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75E21-A3B4-ED2C-1344-D1E3366C313E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891131184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409938A6-7E80-1CAA-E9A3-2C8DDF66A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EA5AD9-736D-6A75-FE91-4A003E2F3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49" y="2251125"/>
            <a:ext cx="6576743" cy="1790195"/>
          </a:xfrm>
          <a:prstGeom prst="rect">
            <a:avLst/>
          </a:prstGeom>
        </p:spPr>
      </p:pic>
      <p:pic>
        <p:nvPicPr>
          <p:cNvPr id="6146" name="Picture 2" descr="Image">
            <a:extLst>
              <a:ext uri="{FF2B5EF4-FFF2-40B4-BE49-F238E27FC236}">
                <a16:creationId xmlns:a16="http://schemas.microsoft.com/office/drawing/2014/main" id="{E7FA9531-589B-FFCD-45D8-5692240080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49" y="1298121"/>
            <a:ext cx="8019284" cy="684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60A332-5183-89E3-EE67-AFB01B4CB50D}"/>
              </a:ext>
            </a:extLst>
          </p:cNvPr>
          <p:cNvSpPr/>
          <p:nvPr/>
        </p:nvSpPr>
        <p:spPr>
          <a:xfrm>
            <a:off x="514349" y="809911"/>
            <a:ext cx="7102930" cy="287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Round2:</a:t>
            </a:r>
            <a:r>
              <a:rPr lang="zh-CN" altLang="en-US" sz="1600" dirty="0"/>
              <a:t> </a:t>
            </a:r>
            <a:r>
              <a:rPr lang="en-US" altLang="zh-CN" sz="1600" dirty="0"/>
              <a:t>Get</a:t>
            </a:r>
            <a:r>
              <a:rPr lang="zh-CN" altLang="en-US" sz="1600" dirty="0"/>
              <a:t> </a:t>
            </a:r>
            <a:r>
              <a:rPr lang="en-US" altLang="zh-CN" sz="1600" dirty="0"/>
              <a:t>Advices</a:t>
            </a:r>
            <a:r>
              <a:rPr lang="zh-CN" altLang="en-US" sz="1600" dirty="0"/>
              <a:t> </a:t>
            </a:r>
            <a:r>
              <a:rPr lang="en-US" altLang="zh-CN" sz="1600" dirty="0"/>
              <a:t>on</a:t>
            </a:r>
            <a:r>
              <a:rPr lang="zh-CN" altLang="en-US" sz="1600" dirty="0"/>
              <a:t> </a:t>
            </a:r>
            <a:r>
              <a:rPr lang="en-US" altLang="zh-CN" sz="1600" dirty="0"/>
              <a:t>Existed</a:t>
            </a:r>
            <a:r>
              <a:rPr lang="zh-CN" altLang="en-US" sz="1600" dirty="0"/>
              <a:t> </a:t>
            </a:r>
            <a:r>
              <a:rPr lang="en-US" altLang="zh-CN" sz="1600" dirty="0"/>
              <a:t>Evaluations</a:t>
            </a:r>
            <a:endParaRPr lang="en-CN" sz="1600" dirty="0"/>
          </a:p>
        </p:txBody>
      </p:sp>
      <p:sp>
        <p:nvSpPr>
          <p:cNvPr id="8" name="Google Shape;169;p27">
            <a:extLst>
              <a:ext uri="{FF2B5EF4-FFF2-40B4-BE49-F238E27FC236}">
                <a16:creationId xmlns:a16="http://schemas.microsoft.com/office/drawing/2014/main" id="{4FF7A19E-51F1-2899-4649-6DBE03D7EF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28" y="135269"/>
            <a:ext cx="8082643" cy="5505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3200" dirty="0"/>
              <a:t>PHASE2</a:t>
            </a:r>
            <a:r>
              <a:rPr lang="zh-CN" altLang="en-US" sz="3200" dirty="0"/>
              <a:t>｜</a:t>
            </a:r>
            <a:r>
              <a:rPr lang="en-US" altLang="zh-CN" sz="3200" dirty="0"/>
              <a:t>REFINE</a:t>
            </a:r>
            <a:r>
              <a:rPr lang="zh-CN" altLang="en-US" sz="3200" dirty="0"/>
              <a:t> </a:t>
            </a:r>
            <a:r>
              <a:rPr lang="en-US" altLang="zh-CN" sz="3200" dirty="0"/>
              <a:t>EVALUATIONS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8F4F76-6640-045A-6F8D-193CC16D67EE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797039030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6320AF34-ADAE-9396-292B-71236785E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Image">
            <a:extLst>
              <a:ext uri="{FF2B5EF4-FFF2-40B4-BE49-F238E27FC236}">
                <a16:creationId xmlns:a16="http://schemas.microsoft.com/office/drawing/2014/main" id="{BB322807-19BB-B49B-B440-75040301E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49" y="1535522"/>
            <a:ext cx="8427565" cy="719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380EC0-89C1-A50E-B6DB-88CAB1528A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49" y="2629975"/>
            <a:ext cx="7909150" cy="12654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038B4EC-0F2C-40FF-62B2-19AB7EB43A11}"/>
              </a:ext>
            </a:extLst>
          </p:cNvPr>
          <p:cNvSpPr/>
          <p:nvPr/>
        </p:nvSpPr>
        <p:spPr>
          <a:xfrm>
            <a:off x="514349" y="873099"/>
            <a:ext cx="7102930" cy="287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Round2:</a:t>
            </a:r>
            <a:r>
              <a:rPr lang="zh-CN" altLang="en-US" sz="1600" dirty="0"/>
              <a:t> </a:t>
            </a:r>
            <a:r>
              <a:rPr lang="en-US" altLang="zh-CN" sz="1600" dirty="0"/>
              <a:t>Get</a:t>
            </a:r>
            <a:r>
              <a:rPr lang="zh-CN" altLang="en-US" sz="1600" dirty="0"/>
              <a:t> </a:t>
            </a:r>
            <a:r>
              <a:rPr lang="en-US" altLang="zh-CN" sz="1600" dirty="0"/>
              <a:t>Advices</a:t>
            </a:r>
            <a:r>
              <a:rPr lang="zh-CN" altLang="en-US" sz="1600" dirty="0"/>
              <a:t> </a:t>
            </a:r>
            <a:r>
              <a:rPr lang="en-US" altLang="zh-CN" sz="1600" dirty="0"/>
              <a:t>on</a:t>
            </a:r>
            <a:r>
              <a:rPr lang="zh-CN" altLang="en-US" sz="1600" dirty="0"/>
              <a:t> </a:t>
            </a:r>
            <a:r>
              <a:rPr lang="en-US" altLang="zh-CN" sz="1600" dirty="0"/>
              <a:t>Existed</a:t>
            </a:r>
            <a:r>
              <a:rPr lang="zh-CN" altLang="en-US" sz="1600" dirty="0"/>
              <a:t> </a:t>
            </a:r>
            <a:r>
              <a:rPr lang="en-US" altLang="zh-CN" sz="1600" dirty="0"/>
              <a:t>Evaluations</a:t>
            </a:r>
            <a:endParaRPr lang="en-CN" sz="1600" dirty="0"/>
          </a:p>
        </p:txBody>
      </p:sp>
      <p:sp>
        <p:nvSpPr>
          <p:cNvPr id="4" name="Google Shape;169;p27">
            <a:extLst>
              <a:ext uri="{FF2B5EF4-FFF2-40B4-BE49-F238E27FC236}">
                <a16:creationId xmlns:a16="http://schemas.microsoft.com/office/drawing/2014/main" id="{9160868E-266B-D14A-C7EE-DA3A85100D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28" y="135269"/>
            <a:ext cx="8082643" cy="5505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3200" dirty="0"/>
              <a:t>PHASE2</a:t>
            </a:r>
            <a:r>
              <a:rPr lang="zh-CN" altLang="en-US" sz="3200" dirty="0"/>
              <a:t>｜</a:t>
            </a:r>
            <a:r>
              <a:rPr lang="en-US" altLang="zh-CN" sz="3200" dirty="0"/>
              <a:t>REFINE</a:t>
            </a:r>
            <a:r>
              <a:rPr lang="zh-CN" altLang="en-US" sz="3200" dirty="0"/>
              <a:t> </a:t>
            </a:r>
            <a:r>
              <a:rPr lang="en-US" altLang="zh-CN" sz="3200" dirty="0"/>
              <a:t>EVALUATIONS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225F4B-F5DC-9F10-33DF-10EC24FA85D4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4858254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63C4E331-6456-EA44-DE4A-280B12956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Image">
            <a:extLst>
              <a:ext uri="{FF2B5EF4-FFF2-40B4-BE49-F238E27FC236}">
                <a16:creationId xmlns:a16="http://schemas.microsoft.com/office/drawing/2014/main" id="{17582124-620E-1A63-CA8F-0B2F778D50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85" y="1463560"/>
            <a:ext cx="8852691" cy="885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Google Shape;169;p27">
            <a:extLst>
              <a:ext uri="{FF2B5EF4-FFF2-40B4-BE49-F238E27FC236}">
                <a16:creationId xmlns:a16="http://schemas.microsoft.com/office/drawing/2014/main" id="{9424EE20-D9A8-C99B-3A1B-76BE35CDB8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30628" y="135269"/>
            <a:ext cx="8082643" cy="5505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spcAft>
                <a:spcPts val="600"/>
              </a:spcAft>
            </a:pPr>
            <a:r>
              <a:rPr lang="en-US" altLang="zh-CN" sz="3200" dirty="0"/>
              <a:t>PHASE3</a:t>
            </a:r>
            <a:r>
              <a:rPr lang="zh-CN" altLang="en-US" sz="3200" dirty="0"/>
              <a:t>｜</a:t>
            </a:r>
            <a:r>
              <a:rPr lang="en-US" altLang="zh-CN" sz="3200" dirty="0"/>
              <a:t>FINALIZED</a:t>
            </a:r>
            <a:r>
              <a:rPr lang="zh-CN" altLang="en-US" sz="3200" dirty="0"/>
              <a:t> </a:t>
            </a:r>
            <a:r>
              <a:rPr lang="en-US" altLang="zh-CN" sz="3200" dirty="0"/>
              <a:t>EVALUATIONS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71F693-603D-6259-61F8-A0C51447D7E3}"/>
              </a:ext>
            </a:extLst>
          </p:cNvPr>
          <p:cNvSpPr/>
          <p:nvPr/>
        </p:nvSpPr>
        <p:spPr>
          <a:xfrm>
            <a:off x="196485" y="983192"/>
            <a:ext cx="7102930" cy="287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Evaluation</a:t>
            </a:r>
            <a:r>
              <a:rPr lang="zh-CN" altLang="en-US" sz="1600" dirty="0"/>
              <a:t> </a:t>
            </a:r>
            <a:r>
              <a:rPr lang="en-US" altLang="zh-CN" sz="1600" dirty="0"/>
              <a:t>Prompt</a:t>
            </a:r>
            <a:endParaRPr lang="en-CN" sz="16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8101CB-794C-3AEB-C88A-706A9C914486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20426A-F5CB-2D5C-1997-B56E7570E1FD}"/>
              </a:ext>
            </a:extLst>
          </p:cNvPr>
          <p:cNvSpPr/>
          <p:nvPr/>
        </p:nvSpPr>
        <p:spPr>
          <a:xfrm>
            <a:off x="196485" y="2530469"/>
            <a:ext cx="7102930" cy="287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600" dirty="0"/>
              <a:t>Score</a:t>
            </a:r>
            <a:r>
              <a:rPr lang="zh-CN" altLang="en-US" sz="1600" dirty="0"/>
              <a:t> </a:t>
            </a:r>
            <a:r>
              <a:rPr lang="en-US" altLang="zh-CN" sz="1600" dirty="0"/>
              <a:t>Prompt</a:t>
            </a:r>
            <a:endParaRPr lang="en-CN" sz="1600" dirty="0"/>
          </a:p>
        </p:txBody>
      </p:sp>
      <p:pic>
        <p:nvPicPr>
          <p:cNvPr id="10246" name="Picture 6" descr="Image">
            <a:extLst>
              <a:ext uri="{FF2B5EF4-FFF2-40B4-BE49-F238E27FC236}">
                <a16:creationId xmlns:a16="http://schemas.microsoft.com/office/drawing/2014/main" id="{0572781E-D5EF-4A53-B675-9AFBD56FC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485" y="2999934"/>
            <a:ext cx="8713774" cy="9924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3093926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511D7673-C174-EB42-5E2F-87D8F091A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27">
            <a:extLst>
              <a:ext uri="{FF2B5EF4-FFF2-40B4-BE49-F238E27FC236}">
                <a16:creationId xmlns:a16="http://schemas.microsoft.com/office/drawing/2014/main" id="{F3897C2A-7A00-01B5-FFAF-87E33FC4B0A7}"/>
              </a:ext>
            </a:extLst>
          </p:cNvPr>
          <p:cNvSpPr txBox="1"/>
          <p:nvPr/>
        </p:nvSpPr>
        <p:spPr>
          <a:xfrm>
            <a:off x="639811" y="1271475"/>
            <a:ext cx="2250346" cy="20922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Student</a:t>
            </a:r>
          </a:p>
          <a:p>
            <a:pPr algn="ctr">
              <a:lnSpc>
                <a:spcPct val="125000"/>
              </a:lnSpc>
            </a:pPr>
            <a:endParaRPr lang="en-US" sz="1100" b="0" i="0" dirty="0">
              <a:solidFill>
                <a:srgbClr val="000000"/>
              </a:solidFill>
              <a:effectLst/>
              <a:latin typeface="inherit"/>
            </a:endParaRPr>
          </a:p>
          <a:p>
            <a:pPr>
              <a:lnSpc>
                <a:spcPct val="125000"/>
              </a:lnSpc>
            </a:pPr>
            <a:r>
              <a:rPr lang="en-US" sz="1100" b="0" i="1" dirty="0">
                <a:solidFill>
                  <a:srgbClr val="000000"/>
                </a:solidFill>
                <a:effectLst/>
                <a:latin typeface="inherit"/>
              </a:rPr>
              <a:t>Can you generate a study plan for me? I am taking Algebra 1 this semester and struggling with determining the equation of a line given a graph.</a:t>
            </a:r>
          </a:p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Google Shape;169;p27">
            <a:extLst>
              <a:ext uri="{FF2B5EF4-FFF2-40B4-BE49-F238E27FC236}">
                <a16:creationId xmlns:a16="http://schemas.microsoft.com/office/drawing/2014/main" id="{6138EE7C-2538-E7EE-DD09-C685850D0ABD}"/>
              </a:ext>
            </a:extLst>
          </p:cNvPr>
          <p:cNvSpPr txBox="1">
            <a:spLocks/>
          </p:cNvSpPr>
          <p:nvPr/>
        </p:nvSpPr>
        <p:spPr>
          <a:xfrm>
            <a:off x="130628" y="135269"/>
            <a:ext cx="8082643" cy="550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 sz="4200" b="0" i="0" u="none" strike="noStrike" cap="none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CN" altLang="zh-CN" sz="3200" dirty="0"/>
              <a:t>MULTIPLE</a:t>
            </a:r>
            <a:r>
              <a:rPr lang="zh-CN" altLang="en-US" sz="3200" dirty="0"/>
              <a:t> </a:t>
            </a:r>
            <a:r>
              <a:rPr lang="en-US" altLang="zh-CN" sz="3200" dirty="0"/>
              <a:t>SCENARIOS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26B7FF-F8A4-123B-F2D0-1A36308D415E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pic>
        <p:nvPicPr>
          <p:cNvPr id="11268" name="Picture 4" descr="Image">
            <a:extLst>
              <a:ext uri="{FF2B5EF4-FFF2-40B4-BE49-F238E27FC236}">
                <a16:creationId xmlns:a16="http://schemas.microsoft.com/office/drawing/2014/main" id="{97CBA715-7C68-AE5E-2B64-CD2CA4D39D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0328" y="889907"/>
            <a:ext cx="5616440" cy="3806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96398385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8EE4ED41-5DC6-33FF-DD69-1E780B71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3;p27">
            <a:extLst>
              <a:ext uri="{FF2B5EF4-FFF2-40B4-BE49-F238E27FC236}">
                <a16:creationId xmlns:a16="http://schemas.microsoft.com/office/drawing/2014/main" id="{1BF1CC67-CF40-EB3A-C3AA-BC37BDFE68E0}"/>
              </a:ext>
            </a:extLst>
          </p:cNvPr>
          <p:cNvSpPr txBox="1"/>
          <p:nvPr/>
        </p:nvSpPr>
        <p:spPr>
          <a:xfrm>
            <a:off x="533673" y="1086926"/>
            <a:ext cx="2331989" cy="1773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Teacher</a:t>
            </a:r>
          </a:p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100" i="1" dirty="0">
              <a:latin typeface="inherit"/>
              <a:sym typeface="Montserrat"/>
            </a:endParaRPr>
          </a:p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i="1" dirty="0">
                <a:latin typeface="inherit"/>
                <a:sym typeface="Montserrat"/>
              </a:rPr>
              <a:t>Can you generate a plan for a lecture I will be teaching? I will be teaching a Geometry course next semester. What should I cover in the lecture introducing lines and angles and the relationships between them?</a:t>
            </a:r>
          </a:p>
        </p:txBody>
      </p:sp>
      <p:sp>
        <p:nvSpPr>
          <p:cNvPr id="6" name="Google Shape;169;p27">
            <a:extLst>
              <a:ext uri="{FF2B5EF4-FFF2-40B4-BE49-F238E27FC236}">
                <a16:creationId xmlns:a16="http://schemas.microsoft.com/office/drawing/2014/main" id="{51FADA3D-54F2-F046-EA04-ADB4D62B5768}"/>
              </a:ext>
            </a:extLst>
          </p:cNvPr>
          <p:cNvSpPr txBox="1">
            <a:spLocks/>
          </p:cNvSpPr>
          <p:nvPr/>
        </p:nvSpPr>
        <p:spPr>
          <a:xfrm>
            <a:off x="130628" y="135269"/>
            <a:ext cx="8082643" cy="550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200"/>
              <a:buFont typeface="Montserrat Black"/>
              <a:buNone/>
              <a:defRPr sz="4200" b="0" i="0" u="none" strike="noStrike" cap="none">
                <a:solidFill>
                  <a:srgbClr val="57068C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marR="0" lvl="1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2pPr>
            <a:lvl3pPr marR="0" lvl="2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3pPr>
            <a:lvl4pPr marR="0" lvl="3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4pPr>
            <a:lvl5pPr marR="0" lvl="4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5pPr>
            <a:lvl6pPr marR="0" lvl="5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6pPr>
            <a:lvl7pPr marR="0" lvl="6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7pPr>
            <a:lvl8pPr marR="0" lvl="7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8pPr>
            <a:lvl9pPr marR="0" lvl="8" algn="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 Black"/>
              <a:buNone/>
              <a:defRPr sz="2800" b="0" i="0" u="none" strike="noStrike" cap="none">
                <a:solidFill>
                  <a:schemeClr val="dk1"/>
                </a:solidFill>
                <a:latin typeface="Montserrat Black"/>
                <a:ea typeface="Montserrat Black"/>
                <a:cs typeface="Montserrat Black"/>
                <a:sym typeface="Montserrat Black"/>
              </a:defRPr>
            </a:lvl9pPr>
          </a:lstStyle>
          <a:p>
            <a:pPr algn="l">
              <a:spcAft>
                <a:spcPts val="600"/>
              </a:spcAft>
            </a:pPr>
            <a:r>
              <a:rPr lang="en-CN" altLang="zh-CN" sz="3200" dirty="0"/>
              <a:t>MULTIPLE</a:t>
            </a:r>
            <a:r>
              <a:rPr lang="zh-CN" altLang="en-US" sz="3200" dirty="0"/>
              <a:t> </a:t>
            </a:r>
            <a:r>
              <a:rPr lang="en-US" altLang="zh-CN" sz="3200" dirty="0"/>
              <a:t>SCENARIOS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E53BA9-95E5-34DB-3299-58E1AC95C8C8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3" name="Google Shape;163;p27">
            <a:extLst>
              <a:ext uri="{FF2B5EF4-FFF2-40B4-BE49-F238E27FC236}">
                <a16:creationId xmlns:a16="http://schemas.microsoft.com/office/drawing/2014/main" id="{9A41CDBB-ADD7-F8D0-1CF5-1A506CA0E603}"/>
              </a:ext>
            </a:extLst>
          </p:cNvPr>
          <p:cNvSpPr txBox="1"/>
          <p:nvPr/>
        </p:nvSpPr>
        <p:spPr>
          <a:xfrm>
            <a:off x="439784" y="3229829"/>
            <a:ext cx="2331989" cy="1183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200" dirty="0">
                <a:solidFill>
                  <a:srgbClr val="5706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Framework</a:t>
            </a:r>
          </a:p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	</a:t>
            </a:r>
          </a:p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Reuse</a:t>
            </a:r>
            <a:r>
              <a:rPr lang="zh-CN" altLang="en-US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Built-in</a:t>
            </a:r>
            <a:r>
              <a:rPr lang="zh-CN" altLang="en-US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Evaluation</a:t>
            </a:r>
            <a:r>
              <a:rPr lang="zh-CN" altLang="en-US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Prompts</a:t>
            </a:r>
            <a:r>
              <a:rPr lang="zh-CN" altLang="en-US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for</a:t>
            </a:r>
            <a:r>
              <a:rPr lang="zh-CN" altLang="en-US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similar</a:t>
            </a:r>
            <a:r>
              <a:rPr lang="zh-CN" altLang="en-US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altLang="zh-CN" sz="1000" i="1" dirty="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tasks</a:t>
            </a:r>
            <a:endParaRPr lang="en-US" sz="1000" i="1" dirty="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E8487EF-4284-C8D3-AC1F-5B94D75FD60F}"/>
              </a:ext>
            </a:extLst>
          </p:cNvPr>
          <p:cNvCxnSpPr>
            <a:cxnSpLocks/>
          </p:cNvCxnSpPr>
          <p:nvPr/>
        </p:nvCxnSpPr>
        <p:spPr>
          <a:xfrm>
            <a:off x="639809" y="3045279"/>
            <a:ext cx="1931941" cy="0"/>
          </a:xfrm>
          <a:prstGeom prst="line">
            <a:avLst/>
          </a:prstGeom>
          <a:ln w="19050">
            <a:solidFill>
              <a:schemeClr val="accent1">
                <a:shade val="95000"/>
                <a:satMod val="10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314" name="Picture 2" descr="Image">
            <a:extLst>
              <a:ext uri="{FF2B5EF4-FFF2-40B4-BE49-F238E27FC236}">
                <a16:creationId xmlns:a16="http://schemas.microsoft.com/office/drawing/2014/main" id="{AC0CE967-4EE7-0E36-E2E3-07F7DCB372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38" y="704058"/>
            <a:ext cx="5543541" cy="4200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411936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8A2CC483-7C70-6A03-1E3C-F20CA34DB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>
            <a:extLst>
              <a:ext uri="{FF2B5EF4-FFF2-40B4-BE49-F238E27FC236}">
                <a16:creationId xmlns:a16="http://schemas.microsoft.com/office/drawing/2014/main" id="{4AC95368-D1DD-9591-677C-5FE423D542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3257" y="89953"/>
            <a:ext cx="6551100" cy="65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Score</a:t>
            </a:r>
            <a:r>
              <a:rPr lang="zh-CN" altLang="en-US" dirty="0"/>
              <a:t> </a:t>
            </a:r>
            <a:r>
              <a:rPr lang="en-US" altLang="zh-CN" dirty="0"/>
              <a:t>Prompt</a:t>
            </a:r>
            <a:r>
              <a:rPr lang="zh-CN" altLang="en-US" dirty="0"/>
              <a:t> </a:t>
            </a:r>
            <a:r>
              <a:rPr lang="en-US" altLang="zh-CN" dirty="0"/>
              <a:t>Application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521C13-3C43-609E-9927-C131B57D1292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9" name="Google Shape;162;p27">
            <a:extLst>
              <a:ext uri="{FF2B5EF4-FFF2-40B4-BE49-F238E27FC236}">
                <a16:creationId xmlns:a16="http://schemas.microsoft.com/office/drawing/2014/main" id="{13FBB2EA-8F24-2BA7-6750-F67BC3689CCB}"/>
              </a:ext>
            </a:extLst>
          </p:cNvPr>
          <p:cNvSpPr txBox="1"/>
          <p:nvPr/>
        </p:nvSpPr>
        <p:spPr>
          <a:xfrm>
            <a:off x="6149484" y="498021"/>
            <a:ext cx="2540229" cy="1091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00" dirty="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zh-CN" sz="1200" dirty="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171450" lvl="0" indent="-1714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100" i="1" dirty="0">
                <a:latin typeface="inherit"/>
                <a:sym typeface="Montserrat ExtraBold"/>
              </a:rPr>
              <a:t>Filter</a:t>
            </a:r>
            <a:r>
              <a:rPr lang="zh-CN" altLang="en-US" sz="1100" i="1" dirty="0">
                <a:latin typeface="inherit"/>
                <a:sym typeface="Montserrat ExtraBold"/>
              </a:rPr>
              <a:t> </a:t>
            </a:r>
            <a:r>
              <a:rPr lang="en-US" altLang="zh-CN" sz="1100" i="1" dirty="0">
                <a:latin typeface="inherit"/>
                <a:sym typeface="Montserrat ExtraBold"/>
              </a:rPr>
              <a:t>Bad</a:t>
            </a:r>
            <a:r>
              <a:rPr lang="zh-CN" altLang="en-US" sz="1100" i="1" dirty="0">
                <a:latin typeface="inherit"/>
                <a:sym typeface="Montserrat ExtraBold"/>
              </a:rPr>
              <a:t> </a:t>
            </a:r>
            <a:r>
              <a:rPr lang="en-US" altLang="zh-CN" sz="1100" i="1" dirty="0">
                <a:latin typeface="inherit"/>
                <a:sym typeface="Montserrat ExtraBold"/>
              </a:rPr>
              <a:t>Quality</a:t>
            </a:r>
            <a:r>
              <a:rPr lang="zh-CN" altLang="en-US" sz="1100" i="1" dirty="0">
                <a:latin typeface="inherit"/>
                <a:sym typeface="Montserrat ExtraBold"/>
              </a:rPr>
              <a:t> </a:t>
            </a:r>
            <a:r>
              <a:rPr lang="en-US" altLang="zh-CN" sz="1100" i="1" dirty="0">
                <a:latin typeface="inherit"/>
                <a:sym typeface="Montserrat ExtraBold"/>
              </a:rPr>
              <a:t>Responses</a:t>
            </a:r>
          </a:p>
          <a:p>
            <a:pPr marL="171450" lvl="0" indent="-17145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sz="1100" i="1" dirty="0">
                <a:latin typeface="inherit"/>
                <a:sym typeface="Montserrat ExtraBold"/>
              </a:rPr>
              <a:t>Labeler</a:t>
            </a:r>
            <a:r>
              <a:rPr lang="zh-CN" altLang="en-US" sz="1100" i="1" dirty="0">
                <a:latin typeface="inherit"/>
                <a:sym typeface="Montserrat ExtraBold"/>
              </a:rPr>
              <a:t> </a:t>
            </a:r>
            <a:r>
              <a:rPr lang="en-US" altLang="zh-CN" sz="1100" i="1" dirty="0">
                <a:latin typeface="inherit"/>
                <a:sym typeface="Montserrat ExtraBold"/>
              </a:rPr>
              <a:t>for</a:t>
            </a:r>
            <a:r>
              <a:rPr lang="zh-CN" altLang="en-US" sz="1100" i="1" dirty="0">
                <a:latin typeface="inherit"/>
                <a:sym typeface="Montserrat ExtraBold"/>
              </a:rPr>
              <a:t> </a:t>
            </a:r>
            <a:r>
              <a:rPr lang="en-US" altLang="zh-CN" sz="1100" i="1" dirty="0">
                <a:latin typeface="inherit"/>
                <a:sym typeface="Montserrat ExtraBold"/>
              </a:rPr>
              <a:t>Training</a:t>
            </a:r>
            <a:r>
              <a:rPr lang="zh-CN" altLang="en-US" sz="1100" i="1" dirty="0">
                <a:latin typeface="inherit"/>
                <a:sym typeface="Montserrat ExtraBold"/>
              </a:rPr>
              <a:t> </a:t>
            </a:r>
            <a:r>
              <a:rPr lang="en-US" altLang="zh-CN" sz="1100" i="1" dirty="0">
                <a:latin typeface="inherit"/>
                <a:sym typeface="Montserrat ExtraBold"/>
              </a:rPr>
              <a:t>Datasets</a:t>
            </a:r>
            <a:endParaRPr lang="en-US" sz="1100" i="1" dirty="0">
              <a:latin typeface="inherit"/>
              <a:sym typeface="Montserrat ExtraBold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5706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290" name="Picture 2" descr="Image">
            <a:extLst>
              <a:ext uri="{FF2B5EF4-FFF2-40B4-BE49-F238E27FC236}">
                <a16:creationId xmlns:a16="http://schemas.microsoft.com/office/drawing/2014/main" id="{A272AAE7-5AD6-1CED-E3CC-A8B8539BD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06" y="1855007"/>
            <a:ext cx="8134542" cy="259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0288346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A7299ADA-AB0F-6249-5680-9F7602BAD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24">
            <a:extLst>
              <a:ext uri="{FF2B5EF4-FFF2-40B4-BE49-F238E27FC236}">
                <a16:creationId xmlns:a16="http://schemas.microsoft.com/office/drawing/2014/main" id="{C9CAD8F5-AEAB-ADD6-33F8-2777EAEFF71D}"/>
              </a:ext>
            </a:extLst>
          </p:cNvPr>
          <p:cNvSpPr/>
          <p:nvPr/>
        </p:nvSpPr>
        <p:spPr>
          <a:xfrm>
            <a:off x="4195513" y="1865562"/>
            <a:ext cx="752973" cy="672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4</a:t>
            </a:r>
            <a:endParaRPr lang="zh-CN" altLang="en-US" sz="2400" b="1" dirty="0"/>
          </a:p>
        </p:txBody>
      </p:sp>
      <p:cxnSp>
        <p:nvCxnSpPr>
          <p:cNvPr id="3" name="直接连接符 18">
            <a:extLst>
              <a:ext uri="{FF2B5EF4-FFF2-40B4-BE49-F238E27FC236}">
                <a16:creationId xmlns:a16="http://schemas.microsoft.com/office/drawing/2014/main" id="{74DB0AE2-BE50-718F-88FA-196D3F013A7D}"/>
              </a:ext>
            </a:extLst>
          </p:cNvPr>
          <p:cNvCxnSpPr>
            <a:cxnSpLocks/>
          </p:cNvCxnSpPr>
          <p:nvPr/>
        </p:nvCxnSpPr>
        <p:spPr>
          <a:xfrm>
            <a:off x="2619696" y="2605589"/>
            <a:ext cx="394927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D7A2E6B-3D39-E42B-8D4D-2D5B479F16DA}"/>
              </a:ext>
            </a:extLst>
          </p:cNvPr>
          <p:cNvSpPr txBox="1"/>
          <p:nvPr/>
        </p:nvSpPr>
        <p:spPr>
          <a:xfrm>
            <a:off x="4283765" y="496957"/>
            <a:ext cx="413331" cy="427047"/>
          </a:xfrm>
          <a:prstGeom prst="rect">
            <a:avLst/>
          </a:prstGeom>
          <a:solidFill>
            <a:srgbClr val="615293"/>
          </a:solid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7" name="矩形 24">
            <a:extLst>
              <a:ext uri="{FF2B5EF4-FFF2-40B4-BE49-F238E27FC236}">
                <a16:creationId xmlns:a16="http://schemas.microsoft.com/office/drawing/2014/main" id="{DD128747-A972-6EE8-61CC-DD22D443A0D5}"/>
              </a:ext>
            </a:extLst>
          </p:cNvPr>
          <p:cNvSpPr/>
          <p:nvPr/>
        </p:nvSpPr>
        <p:spPr>
          <a:xfrm>
            <a:off x="2156644" y="2673268"/>
            <a:ext cx="5253060" cy="656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LIMITATIONS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&amp;</a:t>
            </a:r>
            <a:r>
              <a:rPr lang="zh-CN" altLang="en-US" sz="2400" b="1" dirty="0"/>
              <a:t> </a:t>
            </a:r>
            <a:r>
              <a:rPr lang="en-US" altLang="zh-CN" sz="2400" b="1" dirty="0"/>
              <a:t>PERSPECTIVES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164079633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id="{0A7EAD71-BFD2-043E-15DE-AB7F88C42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>
            <a:extLst>
              <a:ext uri="{FF2B5EF4-FFF2-40B4-BE49-F238E27FC236}">
                <a16:creationId xmlns:a16="http://schemas.microsoft.com/office/drawing/2014/main" id="{76687E4A-0627-1593-FECB-1D07B78FC9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9194" y="319842"/>
            <a:ext cx="7271632" cy="6426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3600" dirty="0"/>
              <a:t>LIMITATIONS</a:t>
            </a:r>
            <a:r>
              <a:rPr lang="zh-CN" altLang="en-US" sz="3600" dirty="0"/>
              <a:t> </a:t>
            </a:r>
            <a:br>
              <a:rPr lang="en-US" altLang="zh-CN" sz="3600" dirty="0"/>
            </a:br>
            <a:r>
              <a:rPr lang="zh-CN" altLang="en-US" sz="3600" dirty="0"/>
              <a:t>  </a:t>
            </a:r>
            <a:r>
              <a:rPr lang="en-US" altLang="zh-CN" sz="3600" dirty="0"/>
              <a:t>&amp;</a:t>
            </a:r>
            <a:r>
              <a:rPr lang="zh-CN" altLang="en-US" sz="3600" dirty="0"/>
              <a:t> </a:t>
            </a:r>
            <a:r>
              <a:rPr lang="en-US" altLang="zh-CN" sz="3600" dirty="0"/>
              <a:t>PERSPECTIVES</a:t>
            </a:r>
            <a:endParaRPr sz="4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CD66F9-5D29-FC7D-C439-F08FFDEDFF23}"/>
              </a:ext>
            </a:extLst>
          </p:cNvPr>
          <p:cNvSpPr/>
          <p:nvPr/>
        </p:nvSpPr>
        <p:spPr>
          <a:xfrm>
            <a:off x="1307974" y="1497816"/>
            <a:ext cx="2246241" cy="2540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Limitations</a:t>
            </a:r>
            <a:endParaRPr lang="en-CN" sz="16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B92256-ED5E-8223-49F9-2043570A0F40}"/>
              </a:ext>
            </a:extLst>
          </p:cNvPr>
          <p:cNvSpPr/>
          <p:nvPr/>
        </p:nvSpPr>
        <p:spPr>
          <a:xfrm>
            <a:off x="5335129" y="1491613"/>
            <a:ext cx="1938128" cy="254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/>
              <a:t>Perspectives</a:t>
            </a:r>
            <a:endParaRPr lang="en-CN" sz="16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6790868-5842-C256-C6A1-00CCE2970CB9}"/>
              </a:ext>
            </a:extLst>
          </p:cNvPr>
          <p:cNvCxnSpPr>
            <a:cxnSpLocks/>
          </p:cNvCxnSpPr>
          <p:nvPr/>
        </p:nvCxnSpPr>
        <p:spPr>
          <a:xfrm>
            <a:off x="4620127" y="1491613"/>
            <a:ext cx="0" cy="3259913"/>
          </a:xfrm>
          <a:prstGeom prst="line">
            <a:avLst/>
          </a:prstGeom>
          <a:ln w="19050">
            <a:solidFill>
              <a:schemeClr val="accent1">
                <a:shade val="95000"/>
                <a:satMod val="105000"/>
              </a:schemeClr>
            </a:solidFill>
            <a:prstDash val="lg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Google Shape;142;p24">
            <a:extLst>
              <a:ext uri="{FF2B5EF4-FFF2-40B4-BE49-F238E27FC236}">
                <a16:creationId xmlns:a16="http://schemas.microsoft.com/office/drawing/2014/main" id="{722ABFCA-FDA2-742B-E6E9-A3FEF163F6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38894" y="1950520"/>
            <a:ext cx="3420833" cy="194314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None/>
            </a:pP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Verification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on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Other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Domains</a:t>
            </a:r>
            <a:r>
              <a:rPr lang="zh-CN" altLang="en-US" sz="14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sz="1400" b="1" dirty="0">
                <a:solidFill>
                  <a:schemeClr val="accent1">
                    <a:lumMod val="75000"/>
                  </a:schemeClr>
                </a:solidFill>
              </a:rPr>
              <a:t>]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  <a:buSzPct val="85000"/>
              <a:buNone/>
            </a:pPr>
            <a:r>
              <a:rPr lang="en-US" altLang="zh-CN" sz="1100" dirty="0">
                <a:solidFill>
                  <a:schemeClr val="bg2"/>
                </a:solidFill>
              </a:rPr>
              <a:t>Math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domain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is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well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covered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during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the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pretrained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phase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of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existing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LLMs.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endParaRPr lang="en-US" altLang="zh-CN" sz="1100" dirty="0">
              <a:solidFill>
                <a:schemeClr val="bg2"/>
              </a:solidFill>
            </a:endParaRPr>
          </a:p>
          <a:p>
            <a:pPr marL="0" indent="0">
              <a:lnSpc>
                <a:spcPct val="100000"/>
              </a:lnSpc>
              <a:spcAft>
                <a:spcPts val="1600"/>
              </a:spcAft>
              <a:buSzPct val="85000"/>
              <a:buNone/>
            </a:pPr>
            <a:r>
              <a:rPr lang="en-US" altLang="zh-CN" sz="1100" dirty="0">
                <a:solidFill>
                  <a:schemeClr val="bg2"/>
                </a:solidFill>
              </a:rPr>
              <a:t>The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framework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effectiveness of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current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use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case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sz="1100" dirty="0">
                <a:solidFill>
                  <a:schemeClr val="bg2"/>
                </a:solidFill>
              </a:rPr>
              <a:t>is insufficient to demonstrate effectiveness</a:t>
            </a:r>
            <a:endParaRPr lang="en-US" altLang="zh-CN" sz="14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8" name="Google Shape;142;p24">
            <a:extLst>
              <a:ext uri="{FF2B5EF4-FFF2-40B4-BE49-F238E27FC236}">
                <a16:creationId xmlns:a16="http://schemas.microsoft.com/office/drawing/2014/main" id="{7FB2D179-30CC-5D58-5C8D-AC78F30EDB13}"/>
              </a:ext>
            </a:extLst>
          </p:cNvPr>
          <p:cNvSpPr txBox="1">
            <a:spLocks/>
          </p:cNvSpPr>
          <p:nvPr/>
        </p:nvSpPr>
        <p:spPr>
          <a:xfrm>
            <a:off x="5291379" y="1950520"/>
            <a:ext cx="2913726" cy="1756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2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2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Font typeface="Montserrat"/>
              <a:buNone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Enrich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Score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Level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]</a:t>
            </a:r>
          </a:p>
          <a:p>
            <a:pPr marL="0" indent="0">
              <a:lnSpc>
                <a:spcPct val="100000"/>
              </a:lnSpc>
              <a:spcAft>
                <a:spcPts val="1600"/>
              </a:spcAft>
              <a:buSzPct val="85000"/>
              <a:buFont typeface="Montserrat"/>
              <a:buNone/>
            </a:pPr>
            <a:r>
              <a:rPr lang="en-US" altLang="zh-CN" sz="1100" dirty="0">
                <a:solidFill>
                  <a:schemeClr val="bg2"/>
                </a:solidFill>
              </a:rPr>
              <a:t>Based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dirty="0">
                <a:solidFill>
                  <a:schemeClr val="bg2"/>
                </a:solidFill>
              </a:rPr>
              <a:t>on</a:t>
            </a:r>
            <a:r>
              <a:rPr lang="zh-CN" altLang="en-US" sz="1100" dirty="0">
                <a:solidFill>
                  <a:schemeClr val="bg2"/>
                </a:solidFill>
              </a:rPr>
              <a:t> </a:t>
            </a:r>
            <a:r>
              <a:rPr lang="en-US" altLang="zh-CN" sz="1100" b="1" dirty="0">
                <a:solidFill>
                  <a:schemeClr val="bg2"/>
                </a:solidFill>
              </a:rPr>
              <a:t>DIMENSIONS</a:t>
            </a:r>
            <a:r>
              <a:rPr lang="zh-CN" altLang="en-US" sz="1100" b="1" dirty="0">
                <a:solidFill>
                  <a:schemeClr val="bg2"/>
                </a:solidFill>
              </a:rPr>
              <a:t> </a:t>
            </a:r>
            <a:r>
              <a:rPr lang="en-US" altLang="zh-CN" sz="1100" b="1" dirty="0">
                <a:solidFill>
                  <a:schemeClr val="bg2"/>
                </a:solidFill>
              </a:rPr>
              <a:t>PRIORITY</a:t>
            </a:r>
            <a:r>
              <a:rPr lang="zh-CN" altLang="en-US" sz="1100" b="1" dirty="0">
                <a:solidFill>
                  <a:schemeClr val="bg2"/>
                </a:solidFill>
              </a:rPr>
              <a:t> </a:t>
            </a:r>
            <a:r>
              <a:rPr lang="en-CN" altLang="zh-CN" sz="1100" dirty="0">
                <a:solidFill>
                  <a:schemeClr val="tx2">
                    <a:lumMod val="25000"/>
                  </a:schemeClr>
                </a:solidFill>
              </a:rPr>
              <a:t>refine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scoring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criteria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and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enrich</a:t>
            </a:r>
          </a:p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Font typeface="Montserrat"/>
              <a:buNone/>
            </a:pP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[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Enrich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Built-in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Evaluations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</a:rPr>
              <a:t>]</a:t>
            </a:r>
          </a:p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None/>
            </a:pPr>
            <a:r>
              <a:rPr lang="en-CN" altLang="zh-CN" sz="1100" dirty="0">
                <a:solidFill>
                  <a:schemeClr val="tx2">
                    <a:lumMod val="25000"/>
                  </a:schemeClr>
                </a:solidFill>
              </a:rPr>
              <a:t>Provide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b="1" dirty="0">
                <a:solidFill>
                  <a:schemeClr val="tx2">
                    <a:lumMod val="25000"/>
                  </a:schemeClr>
                </a:solidFill>
              </a:rPr>
              <a:t>PLUG-IN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Application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and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b="1" dirty="0">
                <a:solidFill>
                  <a:schemeClr val="tx2">
                    <a:lumMod val="25000"/>
                  </a:schemeClr>
                </a:solidFill>
              </a:rPr>
              <a:t>ROUTE</a:t>
            </a:r>
            <a:r>
              <a:rPr lang="zh-CN" altLang="en-US" sz="1100" b="1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b="1" dirty="0">
                <a:solidFill>
                  <a:schemeClr val="tx2">
                    <a:lumMod val="25000"/>
                  </a:schemeClr>
                </a:solidFill>
              </a:rPr>
              <a:t>GATE</a:t>
            </a:r>
            <a:r>
              <a:rPr lang="zh-CN" altLang="en-US" sz="1100" b="1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for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evaluating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different</a:t>
            </a:r>
            <a:r>
              <a:rPr lang="zh-CN" altLang="en-US" sz="1100" dirty="0">
                <a:solidFill>
                  <a:schemeClr val="tx2">
                    <a:lumMod val="25000"/>
                  </a:schemeClr>
                </a:solidFill>
              </a:rPr>
              <a:t> </a:t>
            </a:r>
            <a:r>
              <a:rPr lang="en-US" altLang="zh-CN" sz="1100" dirty="0">
                <a:solidFill>
                  <a:schemeClr val="tx2">
                    <a:lumMod val="25000"/>
                  </a:schemeClr>
                </a:solidFill>
              </a:rPr>
              <a:t>tasks</a:t>
            </a:r>
          </a:p>
          <a:p>
            <a:pPr marL="0" indent="0">
              <a:lnSpc>
                <a:spcPct val="100000"/>
              </a:lnSpc>
              <a:spcAft>
                <a:spcPts val="1000"/>
              </a:spcAft>
              <a:buSzPct val="85000"/>
              <a:buFont typeface="Montserrat"/>
              <a:buNone/>
            </a:pPr>
            <a:endParaRPr lang="en-US" altLang="zh-CN" sz="1200" dirty="0">
              <a:solidFill>
                <a:schemeClr val="bg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7D3EE6-B9A0-6B1B-BD74-DF3574C7168A}"/>
              </a:ext>
            </a:extLst>
          </p:cNvPr>
          <p:cNvSpPr txBox="1"/>
          <p:nvPr/>
        </p:nvSpPr>
        <p:spPr>
          <a:xfrm>
            <a:off x="8597348" y="4542182"/>
            <a:ext cx="184731" cy="307777"/>
          </a:xfrm>
          <a:prstGeom prst="rect">
            <a:avLst/>
          </a:prstGeom>
          <a:pattFill prst="pct5">
            <a:fgClr>
              <a:schemeClr val="lt1"/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490269952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>
          <a:extLst>
            <a:ext uri="{FF2B5EF4-FFF2-40B4-BE49-F238E27FC236}">
              <a16:creationId xmlns:a16="http://schemas.microsoft.com/office/drawing/2014/main" id="{AE0A59A2-8DC0-5F91-140F-243DF135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5251EA-81A3-0752-A03F-6F8BD7F40CD2}"/>
              </a:ext>
            </a:extLst>
          </p:cNvPr>
          <p:cNvSpPr txBox="1"/>
          <p:nvPr/>
        </p:nvSpPr>
        <p:spPr>
          <a:xfrm>
            <a:off x="4283765" y="496957"/>
            <a:ext cx="413331" cy="427047"/>
          </a:xfrm>
          <a:prstGeom prst="rect">
            <a:avLst/>
          </a:prstGeom>
          <a:solidFill>
            <a:srgbClr val="615293"/>
          </a:solidFill>
        </p:spPr>
        <p:txBody>
          <a:bodyPr wrap="square" rtlCol="0">
            <a:spAutoFit/>
          </a:bodyPr>
          <a:lstStyle/>
          <a:p>
            <a:endParaRPr lang="en-CN" dirty="0"/>
          </a:p>
        </p:txBody>
      </p:sp>
      <p:sp>
        <p:nvSpPr>
          <p:cNvPr id="9" name="TextBox 5">
            <a:extLst>
              <a:ext uri="{FF2B5EF4-FFF2-40B4-BE49-F238E27FC236}">
                <a16:creationId xmlns:a16="http://schemas.microsoft.com/office/drawing/2014/main" id="{22A8EBA6-37C7-DF3E-F5FF-82DFC8BE061F}"/>
              </a:ext>
            </a:extLst>
          </p:cNvPr>
          <p:cNvSpPr txBox="1"/>
          <p:nvPr/>
        </p:nvSpPr>
        <p:spPr>
          <a:xfrm>
            <a:off x="158674" y="410038"/>
            <a:ext cx="4538422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8000" b="1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THANKS</a:t>
            </a:r>
            <a:endParaRPr lang="zh-CN" altLang="en-US" sz="8000" b="1" dirty="0">
              <a:solidFill>
                <a:schemeClr val="bg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Google Shape;122;p21">
            <a:extLst>
              <a:ext uri="{FF2B5EF4-FFF2-40B4-BE49-F238E27FC236}">
                <a16:creationId xmlns:a16="http://schemas.microsoft.com/office/drawing/2014/main" id="{428174A5-8128-9E56-AC03-08BA6D2AA822}"/>
              </a:ext>
            </a:extLst>
          </p:cNvPr>
          <p:cNvSpPr txBox="1">
            <a:spLocks/>
          </p:cNvSpPr>
          <p:nvPr/>
        </p:nvSpPr>
        <p:spPr>
          <a:xfrm>
            <a:off x="599014" y="1757507"/>
            <a:ext cx="5593064" cy="186033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altLang="zh-CN" sz="1100" dirty="0">
                <a:solidFill>
                  <a:schemeClr val="bg1"/>
                </a:solidFill>
                <a:latin typeface="Montserrat ExtraBold"/>
                <a:cs typeface="Montserrat ExtraBold"/>
                <a:sym typeface="Montserrat ExtraBold"/>
              </a:rPr>
              <a:t>REFERENCES:</a:t>
            </a:r>
          </a:p>
          <a:p>
            <a:endParaRPr lang="en-US" altLang="zh-CN" sz="1100" dirty="0">
              <a:solidFill>
                <a:schemeClr val="bg1"/>
              </a:solidFill>
              <a:latin typeface="Montserrat ExtraBold"/>
              <a:cs typeface="Montserrat ExtraBold"/>
              <a:sym typeface="Montserrat ExtraBold"/>
            </a:endParaRPr>
          </a:p>
          <a:p>
            <a:pPr>
              <a:spcAft>
                <a:spcPts val="300"/>
              </a:spcAft>
            </a:pPr>
            <a:r>
              <a:rPr lang="en-CN" sz="1100" dirty="0">
                <a:solidFill>
                  <a:schemeClr val="bg1"/>
                </a:solidFill>
              </a:rPr>
              <a:t>﻿</a:t>
            </a:r>
            <a:r>
              <a:rPr lang="en-US" altLang="zh-CN" sz="1100" dirty="0">
                <a:solidFill>
                  <a:schemeClr val="bg1"/>
                </a:solidFill>
              </a:rPr>
              <a:t>[1]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B</a:t>
            </a:r>
            <a:r>
              <a:rPr lang="en-CN" sz="1100" dirty="0">
                <a:solidFill>
                  <a:schemeClr val="bg1"/>
                </a:solidFill>
              </a:rPr>
              <a:t>.-C. Kuo, </a:t>
            </a:r>
            <a:r>
              <a:rPr lang="en-US" altLang="zh-CN" sz="1100" dirty="0">
                <a:solidFill>
                  <a:schemeClr val="bg1"/>
                </a:solidFill>
              </a:rPr>
              <a:t>et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al</a:t>
            </a:r>
            <a:r>
              <a:rPr lang="en-CN" sz="1100" dirty="0">
                <a:solidFill>
                  <a:schemeClr val="bg1"/>
                </a:solidFill>
              </a:rPr>
              <a:t>, ”Leveraging LLMs for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CN" sz="1100" dirty="0">
                <a:solidFill>
                  <a:schemeClr val="bg1"/>
                </a:solidFill>
              </a:rPr>
              <a:t>Adaptive Testing and Learning in Taiwan Adaptive Learning Platform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CN" sz="1100" dirty="0">
                <a:solidFill>
                  <a:schemeClr val="bg1"/>
                </a:solidFill>
              </a:rPr>
              <a:t>(TALP),” 2023.</a:t>
            </a:r>
          </a:p>
          <a:p>
            <a:pPr>
              <a:spcAft>
                <a:spcPts val="300"/>
              </a:spcAft>
            </a:pPr>
            <a:r>
              <a:rPr lang="en-CN" sz="1100" dirty="0">
                <a:solidFill>
                  <a:schemeClr val="bg1"/>
                </a:solidFill>
              </a:rPr>
              <a:t>﻿</a:t>
            </a:r>
            <a:r>
              <a:rPr lang="en-US" altLang="zh-CN" sz="1100" dirty="0">
                <a:solidFill>
                  <a:schemeClr val="bg1"/>
                </a:solidFill>
              </a:rPr>
              <a:t>[2]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﻿B. Jiang, et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al. ”</a:t>
            </a:r>
            <a:r>
              <a:rPr lang="en-US" altLang="zh-CN" sz="1100" dirty="0" err="1">
                <a:solidFill>
                  <a:schemeClr val="bg1"/>
                </a:solidFill>
              </a:rPr>
              <a:t>Datadriven</a:t>
            </a:r>
            <a:r>
              <a:rPr lang="en-US" altLang="zh-CN" sz="1100" dirty="0">
                <a:solidFill>
                  <a:schemeClr val="bg1"/>
                </a:solidFill>
              </a:rPr>
              <a:t> personalized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learning path planning based on cognitive diagnostic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assessments in MOOCs”.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2022</a:t>
            </a:r>
            <a:r>
              <a:rPr lang="en-CN" sz="1100" dirty="0">
                <a:solidFill>
                  <a:schemeClr val="bg1"/>
                </a:solidFill>
              </a:rPr>
              <a:t>.</a:t>
            </a:r>
          </a:p>
          <a:p>
            <a:pPr>
              <a:spcAft>
                <a:spcPts val="300"/>
              </a:spcAft>
            </a:pPr>
            <a:r>
              <a:rPr lang="en-US" altLang="zh-CN" sz="1100" dirty="0">
                <a:solidFill>
                  <a:schemeClr val="bg1"/>
                </a:solidFill>
              </a:rPr>
              <a:t>[3]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﻿C. Ng and Y. Fung, “Educational Personalized Learning Path Planning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r>
              <a:rPr lang="en-US" altLang="zh-CN" sz="1100" dirty="0">
                <a:solidFill>
                  <a:schemeClr val="bg1"/>
                </a:solidFill>
              </a:rPr>
              <a:t>with Large Language Models”. 2024</a:t>
            </a:r>
            <a:r>
              <a:rPr lang="zh-CN" altLang="en-US" sz="1100" dirty="0">
                <a:solidFill>
                  <a:schemeClr val="bg1"/>
                </a:solidFill>
              </a:rPr>
              <a:t> </a:t>
            </a:r>
            <a:endParaRPr lang="en-CN" sz="1100" dirty="0">
              <a:solidFill>
                <a:schemeClr val="bg1"/>
              </a:solidFill>
            </a:endParaRPr>
          </a:p>
          <a:p>
            <a:endParaRPr lang="en-CN" sz="1200" dirty="0">
              <a:solidFill>
                <a:schemeClr val="bg1"/>
              </a:solidFill>
            </a:endParaRPr>
          </a:p>
          <a:p>
            <a:endParaRPr lang="en-US" sz="1200" dirty="0">
              <a:solidFill>
                <a:srgbClr val="57068C"/>
              </a:solidFill>
              <a:latin typeface="Montserrat ExtraBold"/>
              <a:cs typeface="Montserrat ExtraBold"/>
              <a:sym typeface="Montserrat ExtraBold"/>
            </a:endParaRPr>
          </a:p>
        </p:txBody>
      </p:sp>
      <p:sp>
        <p:nvSpPr>
          <p:cNvPr id="3" name="Google Shape;122;p21">
            <a:extLst>
              <a:ext uri="{FF2B5EF4-FFF2-40B4-BE49-F238E27FC236}">
                <a16:creationId xmlns:a16="http://schemas.microsoft.com/office/drawing/2014/main" id="{97C10621-D8D6-37D6-9450-1288B3CB6FA0}"/>
              </a:ext>
            </a:extLst>
          </p:cNvPr>
          <p:cNvSpPr txBox="1">
            <a:spLocks noGrp="1"/>
          </p:cNvSpPr>
          <p:nvPr/>
        </p:nvSpPr>
        <p:spPr>
          <a:xfrm>
            <a:off x="599014" y="3497210"/>
            <a:ext cx="4789400" cy="7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9845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 ExtraBold"/>
              <a:buChar char="●"/>
              <a:defRPr sz="1100" b="0" i="0" u="none" strike="noStrike" cap="non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L="914400" marR="0" lvl="1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●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○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Montserrat"/>
              <a:buChar char="■"/>
              <a:defRPr sz="14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dirty="0"/>
              <a:t>GITHUB</a:t>
            </a:r>
            <a:r>
              <a:rPr lang="zh-CN" altLang="en-US" dirty="0"/>
              <a:t> </a:t>
            </a:r>
            <a:r>
              <a:rPr lang="en-US" altLang="zh-CN" dirty="0"/>
              <a:t>Link:</a:t>
            </a:r>
            <a:r>
              <a:rPr lang="zh-CN" altLang="en-US" dirty="0"/>
              <a:t> </a:t>
            </a:r>
            <a:r>
              <a:rPr lang="en-US" altLang="zh-CN" dirty="0"/>
              <a:t>LLM-for-Study-Plan</a:t>
            </a:r>
            <a:br>
              <a:rPr lang="en-US" altLang="zh-CN" dirty="0"/>
            </a:br>
            <a:r>
              <a:rPr lang="en-US" altLang="zh-CN" sz="1050" i="1" dirty="0">
                <a:latin typeface="+mn-lt"/>
              </a:rPr>
              <a:t>https://</a:t>
            </a:r>
            <a:r>
              <a:rPr lang="en-US" altLang="zh-CN" sz="1050" i="1" dirty="0" err="1">
                <a:latin typeface="+mn-lt"/>
              </a:rPr>
              <a:t>github.com</a:t>
            </a:r>
            <a:r>
              <a:rPr lang="en-US" altLang="zh-CN" sz="1050" i="1" dirty="0">
                <a:latin typeface="+mn-lt"/>
              </a:rPr>
              <a:t>/WIN0624/LLM-for-Study-Plan</a:t>
            </a:r>
            <a:endParaRPr lang="en-US" i="1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02B2FA-4016-6F8F-3A90-A467ECF075D5}"/>
              </a:ext>
            </a:extLst>
          </p:cNvPr>
          <p:cNvSpPr txBox="1"/>
          <p:nvPr/>
        </p:nvSpPr>
        <p:spPr>
          <a:xfrm>
            <a:off x="2726871" y="2147207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4112920051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NYU Bold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2E1DD"/>
      </a:lt2>
      <a:accent1>
        <a:srgbClr val="9A6ABA"/>
      </a:accent1>
      <a:accent2>
        <a:srgbClr val="6D6D6D"/>
      </a:accent2>
      <a:accent3>
        <a:srgbClr val="8900E1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1353</TotalTime>
  <Words>577</Words>
  <Application>Microsoft Macintosh PowerPoint</Application>
  <PresentationFormat>On-screen Show (16:9)</PresentationFormat>
  <Paragraphs>105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inherit</vt:lpstr>
      <vt:lpstr>Montserrat Black</vt:lpstr>
      <vt:lpstr>华文楷体</vt:lpstr>
      <vt:lpstr>Montserrat ExtraBold</vt:lpstr>
      <vt:lpstr>Arial</vt:lpstr>
      <vt:lpstr>Times New Roman</vt:lpstr>
      <vt:lpstr>Montserrat</vt:lpstr>
      <vt:lpstr>NYU Bold</vt:lpstr>
      <vt:lpstr>An Integrated Framework for Applying LLMs with Custom Metrics</vt:lpstr>
      <vt:lpstr>CONTENTS</vt:lpstr>
      <vt:lpstr>PowerPoint Presentation</vt:lpstr>
      <vt:lpstr>BACKGROUND</vt:lpstr>
      <vt:lpstr>RESEARCH QUESTIONS</vt:lpstr>
      <vt:lpstr>RESEARCH QUESTIONS</vt:lpstr>
      <vt:lpstr>PowerPoint Presentation</vt:lpstr>
      <vt:lpstr>Custom Evaluation Metrics  Integrated LLM Application Framework</vt:lpstr>
      <vt:lpstr>EVALUATIONS GENERATION PROCEDURE</vt:lpstr>
      <vt:lpstr>PowerPoint Presentation</vt:lpstr>
      <vt:lpstr>PowerPoint Presentation</vt:lpstr>
      <vt:lpstr>Use Case</vt:lpstr>
      <vt:lpstr>PowerPoint Presentation</vt:lpstr>
      <vt:lpstr>PHASE2｜REFINE EVALUATIONS</vt:lpstr>
      <vt:lpstr>PHASE2｜REFINE EVALUATIONS</vt:lpstr>
      <vt:lpstr>PHASE2｜REFINE EVALUATIONS</vt:lpstr>
      <vt:lpstr>PHASE3｜FINALIZED EVALUATIONS</vt:lpstr>
      <vt:lpstr>PowerPoint Presentation</vt:lpstr>
      <vt:lpstr>PowerPoint Presentation</vt:lpstr>
      <vt:lpstr>Score Prompt Application</vt:lpstr>
      <vt:lpstr>PowerPoint Presentation</vt:lpstr>
      <vt:lpstr>LIMITATIONS    &amp; PERSPECTIVES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Ying Zeng</cp:lastModifiedBy>
  <cp:revision>13</cp:revision>
  <dcterms:modified xsi:type="dcterms:W3CDTF">2024-12-18T03:33:04Z</dcterms:modified>
</cp:coreProperties>
</file>